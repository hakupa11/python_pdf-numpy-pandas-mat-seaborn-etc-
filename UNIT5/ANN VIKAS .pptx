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62" r:id="rId2"/>
    <p:sldId id="256" r:id="rId3"/>
    <p:sldId id="257" r:id="rId4"/>
    <p:sldId id="258" r:id="rId5"/>
    <p:sldId id="259" r:id="rId6"/>
    <p:sldId id="260" r:id="rId7"/>
    <p:sldId id="286" r:id="rId8"/>
    <p:sldId id="287" r:id="rId9"/>
    <p:sldId id="288"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2258" autoAdjust="0"/>
  </p:normalViewPr>
  <p:slideViewPr>
    <p:cSldViewPr>
      <p:cViewPr varScale="1">
        <p:scale>
          <a:sx n="59" d="100"/>
          <a:sy n="59" d="100"/>
        </p:scale>
        <p:origin x="-106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8FCA21-50E3-45C7-9CDA-797F7EA04B60}" type="datetimeFigureOut">
              <a:rPr lang="en-US" smtClean="0"/>
              <a:pPr/>
              <a:t>6/28/2024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D3918AA-F604-43BE-B590-BE6EC8B6D29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INPUT LAYRES CONNECTED WITH HIDDEN LAYRES AND HIDDEN LAYRES CONNECTED WITH</a:t>
            </a:r>
            <a:r>
              <a:rPr lang="en-US" baseline="0" dirty="0" smtClean="0"/>
              <a:t> OUTPUT LAYRE </a:t>
            </a:r>
            <a:endParaRPr lang="en-US" dirty="0"/>
          </a:p>
        </p:txBody>
      </p:sp>
      <p:sp>
        <p:nvSpPr>
          <p:cNvPr id="4" name="Slide Number Placeholder 3"/>
          <p:cNvSpPr>
            <a:spLocks noGrp="1"/>
          </p:cNvSpPr>
          <p:nvPr>
            <p:ph type="sldNum" sz="quarter" idx="10"/>
          </p:nvPr>
        </p:nvSpPr>
        <p:spPr/>
        <p:txBody>
          <a:bodyPr/>
          <a:lstStyle/>
          <a:p>
            <a:fld id="{DD3918AA-F604-43BE-B590-BE6EC8B6D291}" type="slidenum">
              <a:rPr lang="en-US" smtClean="0"/>
              <a:pPr/>
              <a:t>15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IF THE OUTPUT IS CORRECT THEN SATIESFIED</a:t>
            </a:r>
            <a:r>
              <a:rPr lang="en-US" baseline="0" dirty="0" smtClean="0"/>
              <a:t> OTHERWISE THEY SEND BACK FEEDBACK OF OUTPUT AND AFTER THEN  WE WILLMODIFY THE COMPUTIONAL DATA AND SEND AGAIN.</a:t>
            </a:r>
            <a:endParaRPr lang="en-US" dirty="0"/>
          </a:p>
        </p:txBody>
      </p:sp>
      <p:sp>
        <p:nvSpPr>
          <p:cNvPr id="4" name="Slide Number Placeholder 3"/>
          <p:cNvSpPr>
            <a:spLocks noGrp="1"/>
          </p:cNvSpPr>
          <p:nvPr>
            <p:ph type="sldNum" sz="quarter" idx="10"/>
          </p:nvPr>
        </p:nvSpPr>
        <p:spPr/>
        <p:txBody>
          <a:bodyPr/>
          <a:lstStyle/>
          <a:p>
            <a:fld id="{DD3918AA-F604-43BE-B590-BE6EC8B6D291}" type="slidenum">
              <a:rPr lang="en-US" smtClean="0"/>
              <a:pPr/>
              <a:t>16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solidFill>
                  <a:srgbClr val="FFFF00"/>
                </a:solidFill>
              </a:rPr>
              <a:t>WHILE MODIFYING OR UPDATING THIS PARTICULAR WEIGHTS RATHER THAN</a:t>
            </a:r>
            <a:r>
              <a:rPr lang="en-US" baseline="0" dirty="0" smtClean="0">
                <a:solidFill>
                  <a:srgbClr val="FFFF00"/>
                </a:solidFill>
              </a:rPr>
              <a:t> JUST CONSIDERING THE INPUT AS WELL AS PREVIOUS WEIGHT WE CONSIDER THE OUTPUT AS WELL IN THIS CASE.</a:t>
            </a:r>
          </a:p>
          <a:p>
            <a:r>
              <a:rPr lang="en-US" baseline="0" dirty="0" smtClean="0">
                <a:solidFill>
                  <a:srgbClr val="FFFF00"/>
                </a:solidFill>
              </a:rPr>
              <a:t>                                                  THE OUTPUT OF THE PREVIOUS ULTRATION, THE INPUT WILL BE CONSIDER </a:t>
            </a:r>
            <a:r>
              <a:rPr lang="en-US" baseline="0" smtClean="0">
                <a:solidFill>
                  <a:srgbClr val="FFFF00"/>
                </a:solidFill>
              </a:rPr>
              <a:t>TO UPDATE THIS </a:t>
            </a:r>
            <a:r>
              <a:rPr lang="en-US" baseline="0" dirty="0" smtClean="0">
                <a:solidFill>
                  <a:srgbClr val="FFFF00"/>
                </a:solidFill>
              </a:rPr>
              <a:t>PARTICULAR WEIGHT OVER HERE</a:t>
            </a:r>
            <a:endParaRPr lang="en-US" dirty="0">
              <a:solidFill>
                <a:srgbClr val="FFFF00"/>
              </a:solidFill>
            </a:endParaRPr>
          </a:p>
        </p:txBody>
      </p:sp>
      <p:sp>
        <p:nvSpPr>
          <p:cNvPr id="4" name="Slide Number Placeholder 3"/>
          <p:cNvSpPr>
            <a:spLocks noGrp="1"/>
          </p:cNvSpPr>
          <p:nvPr>
            <p:ph type="sldNum" sz="quarter" idx="10"/>
          </p:nvPr>
        </p:nvSpPr>
        <p:spPr/>
        <p:txBody>
          <a:bodyPr/>
          <a:lstStyle/>
          <a:p>
            <a:fld id="{DD3918AA-F604-43BE-B590-BE6EC8B6D291}"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 is an Artificial Neural Networks.jpg"/>
          <p:cNvPicPr>
            <a:picLocks noChangeAspect="1"/>
          </p:cNvPicPr>
          <p:nvPr/>
        </p:nvPicPr>
        <p:blipFill>
          <a:blip r:embed="rId2"/>
          <a:stretch>
            <a:fillRect/>
          </a:stretch>
        </p:blipFill>
        <p:spPr>
          <a:xfrm>
            <a:off x="2285" y="0"/>
            <a:ext cx="9141715" cy="6858000"/>
          </a:xfrm>
          <a:prstGeom prst="rect">
            <a:avLst/>
          </a:prstGeom>
        </p:spPr>
      </p:pic>
      <p:sp>
        <p:nvSpPr>
          <p:cNvPr id="4" name="TextBox 3"/>
          <p:cNvSpPr txBox="1"/>
          <p:nvPr/>
        </p:nvSpPr>
        <p:spPr>
          <a:xfrm>
            <a:off x="1219200" y="3995678"/>
            <a:ext cx="7924800" cy="2862322"/>
          </a:xfrm>
          <a:prstGeom prst="rect">
            <a:avLst/>
          </a:prstGeom>
          <a:noFill/>
        </p:spPr>
        <p:txBody>
          <a:bodyPr wrap="square" rtlCol="0">
            <a:spAutoFit/>
          </a:bodyPr>
          <a:lstStyle/>
          <a:p>
            <a:pPr algn="r"/>
            <a:r>
              <a:rPr lang="en-US" sz="6000" b="1" dirty="0" smtClean="0">
                <a:solidFill>
                  <a:srgbClr val="FF0000"/>
                </a:solidFill>
              </a:rPr>
              <a:t>Artificial </a:t>
            </a:r>
          </a:p>
          <a:p>
            <a:pPr algn="r"/>
            <a:r>
              <a:rPr lang="en-US" sz="6000" b="1" dirty="0" smtClean="0">
                <a:solidFill>
                  <a:srgbClr val="FF0000"/>
                </a:solidFill>
              </a:rPr>
              <a:t>Neural Network</a:t>
            </a:r>
          </a:p>
          <a:p>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b="10417"/>
          <a:stretch>
            <a:fillRect/>
          </a:stretch>
        </p:blipFill>
        <p:spPr bwMode="auto">
          <a:xfrm>
            <a:off x="228600" y="304800"/>
            <a:ext cx="8915400" cy="62484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b="6765"/>
          <a:stretch>
            <a:fillRect/>
          </a:stretch>
        </p:blipFill>
        <p:spPr bwMode="auto">
          <a:xfrm>
            <a:off x="422031" y="304800"/>
            <a:ext cx="8340969" cy="60198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b="6250"/>
          <a:stretch>
            <a:fillRect/>
          </a:stretch>
        </p:blipFill>
        <p:spPr bwMode="auto">
          <a:xfrm>
            <a:off x="0" y="381000"/>
            <a:ext cx="9144000" cy="61722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b="6667"/>
          <a:stretch>
            <a:fillRect/>
          </a:stretch>
        </p:blipFill>
        <p:spPr bwMode="auto">
          <a:xfrm>
            <a:off x="152400" y="228600"/>
            <a:ext cx="8839200" cy="6324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b="6250"/>
          <a:stretch>
            <a:fillRect/>
          </a:stretch>
        </p:blipFill>
        <p:spPr bwMode="auto">
          <a:xfrm>
            <a:off x="228600" y="457200"/>
            <a:ext cx="8915400" cy="6096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219200"/>
            <a:ext cx="8534400" cy="4801314"/>
          </a:xfrm>
          <a:prstGeom prst="rect">
            <a:avLst/>
          </a:prstGeom>
        </p:spPr>
        <p:txBody>
          <a:bodyPr wrap="square">
            <a:spAutoFit/>
          </a:bodyPr>
          <a:lstStyle/>
          <a:p>
            <a:pPr fontAlgn="base"/>
            <a:r>
              <a:rPr lang="en-US" dirty="0" smtClean="0"/>
              <a:t>Weights are numerical values associated with the connections between neurons. They determine the strength of these connections and, in turn, the influence that one neuron’s output has on another neuron’s input. Think of weights as the coefficients that adjust the impact of incoming data. They can increase or decrease the importance of specific information.</a:t>
            </a:r>
          </a:p>
          <a:p>
            <a:pPr fontAlgn="base"/>
            <a:r>
              <a:rPr lang="en-US" dirty="0" smtClean="0"/>
              <a:t>During the training phase of a neural network, these weights are adjusted iteratively to minimize the difference between the network’s predictions and the actual outcomes. This process is akin to fine-tuning the network’s ability to make accurate predictions.</a:t>
            </a:r>
          </a:p>
          <a:p>
            <a:pPr fontAlgn="base"/>
            <a:r>
              <a:rPr lang="en-US" dirty="0" smtClean="0"/>
              <a:t>Let’s consider a practical example to illustrate the role of weights. Suppose you’re building a neural network to recognize handwritten digits. Each pixel in an image of a digit can be considered an input to the network. The weights associated with each pixel determine how much importance the network places on that pixel when making a decision about which digit is represented in the image.</a:t>
            </a:r>
          </a:p>
          <a:p>
            <a:pPr fontAlgn="base"/>
            <a:r>
              <a:rPr lang="en-US" dirty="0" smtClean="0"/>
              <a:t>As the network learns from a dataset of labeled digits, it adjusts these weights to give more significance to pixels that are highly correlated with the correct digit and less significance to pixels that are less relevant. Over time, the network learns to recognize patterns in the data and make accurate predictions.</a:t>
            </a:r>
            <a:endParaRPr lang="en-US" dirty="0"/>
          </a:p>
        </p:txBody>
      </p:sp>
      <p:sp>
        <p:nvSpPr>
          <p:cNvPr id="3" name="TextBox 2"/>
          <p:cNvSpPr txBox="1"/>
          <p:nvPr/>
        </p:nvSpPr>
        <p:spPr>
          <a:xfrm>
            <a:off x="3581400" y="533400"/>
            <a:ext cx="1741182" cy="646331"/>
          </a:xfrm>
          <a:prstGeom prst="rect">
            <a:avLst/>
          </a:prstGeom>
          <a:noFill/>
        </p:spPr>
        <p:txBody>
          <a:bodyPr wrap="none" rtlCol="0">
            <a:spAutoFit/>
          </a:bodyPr>
          <a:lstStyle/>
          <a:p>
            <a:r>
              <a:rPr lang="en-US" sz="3600" dirty="0" smtClean="0">
                <a:solidFill>
                  <a:srgbClr val="FF0000"/>
                </a:solidFill>
              </a:rPr>
              <a:t>WEIGHT</a:t>
            </a:r>
            <a:endParaRPr lang="en-US" sz="3600"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600200"/>
            <a:ext cx="8382000" cy="4801314"/>
          </a:xfrm>
          <a:prstGeom prst="rect">
            <a:avLst/>
          </a:prstGeom>
        </p:spPr>
        <p:txBody>
          <a:bodyPr wrap="square">
            <a:spAutoFit/>
          </a:bodyPr>
          <a:lstStyle/>
          <a:p>
            <a:pPr fontAlgn="base"/>
            <a:r>
              <a:rPr lang="en-US" dirty="0" smtClean="0"/>
              <a:t>While weights determine the </a:t>
            </a:r>
            <a:r>
              <a:rPr lang="en-US" b="1" dirty="0" smtClean="0"/>
              <a:t>strength of connections between neurons</a:t>
            </a:r>
            <a:r>
              <a:rPr lang="en-US" dirty="0" smtClean="0"/>
              <a:t>, biases provide a critical </a:t>
            </a:r>
            <a:r>
              <a:rPr lang="en-US" b="1" dirty="0" smtClean="0"/>
              <a:t>additional layer of flexibility</a:t>
            </a:r>
            <a:r>
              <a:rPr lang="en-US" dirty="0" smtClean="0"/>
              <a:t> to neural networks. Biases are essentially constants associated with each neuron. Unlike weights, biases are not connected to specific inputs but are added to the neuron’s output.</a:t>
            </a:r>
          </a:p>
          <a:p>
            <a:pPr fontAlgn="base"/>
            <a:r>
              <a:rPr lang="en-US" dirty="0" smtClean="0"/>
              <a:t>Biases serve as a form of offset or threshold, allowing neurons to activate even when the weighted sum of their inputs is not sufficient on its own. They introduce a level of adaptability that ensures the network can learn and make predictions effectively.</a:t>
            </a:r>
          </a:p>
          <a:p>
            <a:pPr fontAlgn="base"/>
            <a:r>
              <a:rPr lang="en-US" dirty="0" smtClean="0"/>
              <a:t>To understand the role of biases, consider a simple example. Imagine a neuron that processes the brightness of an image pixel. Without a bias, this neuron might only activate when the pixel’s brightness is exactly at a certain threshold. However, by introducing a bias, you allow the neuron to activate even when the brightness is slightly below or above the threshold.</a:t>
            </a:r>
          </a:p>
          <a:p>
            <a:pPr fontAlgn="base"/>
            <a:r>
              <a:rPr lang="en-US" dirty="0" smtClean="0"/>
              <a:t>This flexibility is crucial because real-world data is rarely perfectly aligned with specific thresholds. Biases enable neurons to activate in response to various input conditions, making neural networks more robust and capable of handling complex patterns.</a:t>
            </a:r>
          </a:p>
          <a:p>
            <a:pPr fontAlgn="base"/>
            <a:r>
              <a:rPr lang="en-US" dirty="0" smtClean="0"/>
              <a:t>During training, biases are also adjusted to optimize the network’s performance. They can be thought of as fine-tuning parameters that help the network fit the data better.</a:t>
            </a:r>
            <a:endParaRPr lang="en-US" dirty="0"/>
          </a:p>
        </p:txBody>
      </p:sp>
      <p:sp>
        <p:nvSpPr>
          <p:cNvPr id="3" name="TextBox 2"/>
          <p:cNvSpPr txBox="1"/>
          <p:nvPr/>
        </p:nvSpPr>
        <p:spPr>
          <a:xfrm>
            <a:off x="533400" y="457200"/>
            <a:ext cx="8061822" cy="1077218"/>
          </a:xfrm>
          <a:prstGeom prst="rect">
            <a:avLst/>
          </a:prstGeom>
          <a:noFill/>
        </p:spPr>
        <p:txBody>
          <a:bodyPr wrap="none" rtlCol="0">
            <a:spAutoFit/>
          </a:bodyPr>
          <a:lstStyle/>
          <a:p>
            <a:r>
              <a:rPr lang="en-US" sz="3200" b="1" dirty="0" smtClean="0"/>
              <a:t>Biases: Introducing Flexibility and Adaptability</a:t>
            </a:r>
          </a:p>
          <a:p>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381000"/>
            <a:ext cx="8001000" cy="3200876"/>
          </a:xfrm>
          <a:prstGeom prst="rect">
            <a:avLst/>
          </a:prstGeom>
        </p:spPr>
        <p:txBody>
          <a:bodyPr wrap="square">
            <a:spAutoFit/>
          </a:bodyPr>
          <a:lstStyle/>
          <a:p>
            <a:pPr fontAlgn="base"/>
            <a:r>
              <a:rPr lang="en-US" sz="3200" b="1" dirty="0" smtClean="0"/>
              <a:t>What is the role of the bias in neural networks</a:t>
            </a:r>
            <a:r>
              <a:rPr lang="en-US" sz="3200" b="1" dirty="0" smtClean="0"/>
              <a:t>?</a:t>
            </a:r>
          </a:p>
          <a:p>
            <a:pPr fontAlgn="base"/>
            <a:r>
              <a:rPr lang="en-US" sz="2800" b="1" dirty="0" smtClean="0"/>
              <a:t>Answer: Bias in neural networks adjusts the intercept of the decision boundary, aiding in fitting the data more accurately.</a:t>
            </a:r>
          </a:p>
          <a:p>
            <a:pPr fontAlgn="base"/>
            <a:endParaRPr lang="en-US" b="1" dirty="0" smtClean="0"/>
          </a:p>
          <a:p>
            <a:r>
              <a:rPr lang="en-US" dirty="0" smtClean="0"/>
              <a:t/>
            </a:r>
            <a:br>
              <a:rPr lang="en-US" dirty="0" smtClean="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b="10526"/>
          <a:stretch>
            <a:fillRect/>
          </a:stretch>
        </p:blipFill>
        <p:spPr bwMode="auto">
          <a:xfrm>
            <a:off x="304800" y="0"/>
            <a:ext cx="8839200" cy="6858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b="19767"/>
          <a:stretch>
            <a:fillRect/>
          </a:stretch>
        </p:blipFill>
        <p:spPr bwMode="auto">
          <a:xfrm>
            <a:off x="1" y="304800"/>
            <a:ext cx="8839200" cy="52578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b="8219"/>
          <a:stretch>
            <a:fillRect/>
          </a:stretch>
        </p:blipFill>
        <p:spPr bwMode="auto">
          <a:xfrm>
            <a:off x="0" y="457200"/>
            <a:ext cx="8915400" cy="5105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b="11364"/>
          <a:stretch>
            <a:fillRect/>
          </a:stretch>
        </p:blipFill>
        <p:spPr bwMode="auto">
          <a:xfrm>
            <a:off x="0" y="609600"/>
            <a:ext cx="9144000" cy="59436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b="8974"/>
          <a:stretch>
            <a:fillRect/>
          </a:stretch>
        </p:blipFill>
        <p:spPr bwMode="auto">
          <a:xfrm>
            <a:off x="0" y="457200"/>
            <a:ext cx="8915400" cy="54102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srcRect b="8140"/>
          <a:stretch>
            <a:fillRect/>
          </a:stretch>
        </p:blipFill>
        <p:spPr bwMode="auto">
          <a:xfrm>
            <a:off x="0" y="609600"/>
            <a:ext cx="8763000" cy="60198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srcRect b="15854"/>
          <a:stretch>
            <a:fillRect/>
          </a:stretch>
        </p:blipFill>
        <p:spPr bwMode="auto">
          <a:xfrm>
            <a:off x="533400" y="381000"/>
            <a:ext cx="7696200" cy="52578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b="7407"/>
          <a:stretch>
            <a:fillRect/>
          </a:stretch>
        </p:blipFill>
        <p:spPr bwMode="auto">
          <a:xfrm>
            <a:off x="0" y="457200"/>
            <a:ext cx="8991599" cy="57150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srcRect r="9286" b="6250"/>
          <a:stretch>
            <a:fillRect/>
          </a:stretch>
        </p:blipFill>
        <p:spPr bwMode="auto">
          <a:xfrm>
            <a:off x="0" y="0"/>
            <a:ext cx="9677400" cy="68580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b="6250"/>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b="6250"/>
          <a:stretch>
            <a:fillRect/>
          </a:stretch>
        </p:blipFill>
        <p:spPr bwMode="auto">
          <a:xfrm>
            <a:off x="0" y="0"/>
            <a:ext cx="9525000" cy="6858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b="6250"/>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b="8889"/>
          <a:stretch>
            <a:fillRect/>
          </a:stretch>
        </p:blipFill>
        <p:spPr bwMode="auto">
          <a:xfrm>
            <a:off x="0" y="0"/>
            <a:ext cx="9144000" cy="62484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b="6250"/>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srcRect b="12500"/>
          <a:stretch>
            <a:fillRect/>
          </a:stretch>
        </p:blipFill>
        <p:spPr bwMode="auto">
          <a:xfrm>
            <a:off x="0" y="0"/>
            <a:ext cx="8915400" cy="64008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srcRect b="6250"/>
          <a:stretch>
            <a:fillRect/>
          </a:stretch>
        </p:blipFill>
        <p:spPr bwMode="auto">
          <a:xfrm>
            <a:off x="0" y="0"/>
            <a:ext cx="8915400" cy="68580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b="9375"/>
          <a:stretch>
            <a:fillRect/>
          </a:stretch>
        </p:blipFill>
        <p:spPr bwMode="auto">
          <a:xfrm>
            <a:off x="0" y="0"/>
            <a:ext cx="8686800" cy="66294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b="15625"/>
          <a:stretch>
            <a:fillRect/>
          </a:stretch>
        </p:blipFill>
        <p:spPr bwMode="auto">
          <a:xfrm>
            <a:off x="0" y="0"/>
            <a:ext cx="8915400" cy="61722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b="11458"/>
          <a:stretch>
            <a:fillRect/>
          </a:stretch>
        </p:blipFill>
        <p:spPr bwMode="auto">
          <a:xfrm>
            <a:off x="0" y="609600"/>
            <a:ext cx="9144000" cy="59436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t="11458" b="21875"/>
          <a:stretch>
            <a:fillRect/>
          </a:stretch>
        </p:blipFill>
        <p:spPr bwMode="auto">
          <a:xfrm>
            <a:off x="0" y="838200"/>
            <a:ext cx="8610600" cy="48768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t="11756" r="1025" b="17708"/>
          <a:stretch>
            <a:fillRect/>
          </a:stretch>
        </p:blipFill>
        <p:spPr bwMode="auto">
          <a:xfrm>
            <a:off x="0" y="914400"/>
            <a:ext cx="8763000" cy="54864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t="12222" b="10000"/>
          <a:stretch>
            <a:fillRect/>
          </a:stretch>
        </p:blipFill>
        <p:spPr bwMode="auto">
          <a:xfrm>
            <a:off x="0" y="1295400"/>
            <a:ext cx="9144000" cy="53340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363</Words>
  <Application>Microsoft Office PowerPoint</Application>
  <PresentationFormat>On-screen Show (4:3)</PresentationFormat>
  <Paragraphs>24</Paragraphs>
  <Slides>31</Slides>
  <Notes>3</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Suryawanshi</dc:creator>
  <cp:lastModifiedBy>hp</cp:lastModifiedBy>
  <cp:revision>15</cp:revision>
  <dcterms:created xsi:type="dcterms:W3CDTF">2006-08-16T00:00:00Z</dcterms:created>
  <dcterms:modified xsi:type="dcterms:W3CDTF">2024-06-28T04:31:34Z</dcterms:modified>
</cp:coreProperties>
</file>