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58" r:id="rId2"/>
    <p:sldId id="264" r:id="rId3"/>
    <p:sldId id="265" r:id="rId4"/>
    <p:sldId id="266"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chine Learning Workflow" id="{97F99AD3-E4B9-4DE7-88FA-659FD3DEA194}">
          <p14:sldIdLst>
            <p14:sldId id="258"/>
            <p14:sldId id="264"/>
            <p14:sldId id="265"/>
            <p14:sldId id="266"/>
          </p14:sldIdLst>
        </p14:section>
        <p14:section name="Machine Learning Vocabulary" id="{15888F66-0554-49EE-834A-CA79AE882854}">
          <p14:sldIdLst>
            <p14:sldId id="260"/>
            <p14:sldId id="261"/>
            <p14:sldId id="262"/>
            <p14:sldId id="26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t>8/9/2024</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t>‹#›</a:t>
            </a:fld>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F6C43-988E-4257-9A1C-C162EF036D58}" type="datetimeFigureOut">
              <a:rPr lang="en-US"/>
              <a:t>8/9/2024</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D491D0-8E1B-49C7-849B-A28568D94497}" type="slidenum">
              <a:rPr/>
              <a:t>‹#›</a:t>
            </a:fld>
            <a:endParaRPr/>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p:nvSpPr>
        <p:spPr>
          <a:xfrm>
            <a:off x="2832533" y="1371600"/>
            <a:ext cx="9359467"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2832533" y="4462272"/>
            <a:ext cx="9359467" cy="1033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bwMode="black">
          <a:xfrm>
            <a:off x="3175199" y="1943842"/>
            <a:ext cx="8500062" cy="2387600"/>
          </a:xfrm>
        </p:spPr>
        <p:txBody>
          <a:bodyPr anchor="b"/>
          <a:lstStyle>
            <a:lvl1pPr algn="l">
              <a:lnSpc>
                <a:spcPct val="90000"/>
              </a:lnSpc>
              <a:defRPr sz="6000" b="1">
                <a:solidFill>
                  <a:schemeClr val="tx1"/>
                </a:solidFill>
              </a:defRPr>
            </a:lvl1pPr>
          </a:lstStyle>
          <a:p>
            <a:r>
              <a:rPr lang="en-US"/>
              <a:t>Click to edit Master title style</a:t>
            </a:r>
            <a:endParaRPr/>
          </a:p>
        </p:txBody>
      </p:sp>
      <p:sp>
        <p:nvSpPr>
          <p:cNvPr id="3" name="Subtitle 2"/>
          <p:cNvSpPr>
            <a:spLocks noGrp="1"/>
          </p:cNvSpPr>
          <p:nvPr>
            <p:ph type="subTitle" idx="1"/>
          </p:nvPr>
        </p:nvSpPr>
        <p:spPr>
          <a:xfrm>
            <a:off x="3175199" y="4538659"/>
            <a:ext cx="8500062" cy="865321"/>
          </a:xfrm>
        </p:spPr>
        <p:txBody>
          <a:bodyPr/>
          <a:lstStyle>
            <a:lvl1pPr marL="0" indent="0" algn="l">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Date Placeholder 3"/>
          <p:cNvSpPr>
            <a:spLocks noGrp="1"/>
          </p:cNvSpPr>
          <p:nvPr>
            <p:ph type="dt" sz="half" idx="10"/>
          </p:nvPr>
        </p:nvSpPr>
        <p:spPr/>
        <p:txBody>
          <a:bodyPr/>
          <a:lstStyle>
            <a:lvl1pPr>
              <a:defRPr>
                <a:solidFill>
                  <a:schemeClr val="bg2"/>
                </a:solidFill>
              </a:defRPr>
            </a:lvl1pPr>
          </a:lstStyle>
          <a:p>
            <a:fld id="{2CCFE9AC-F15C-4FA0-A6F1-298829FA691D}" type="datetimeFigureOut">
              <a:rPr lang="en-US" smtClean="0"/>
              <a:pPr/>
              <a:t>8/9/2024</a:t>
            </a:fld>
            <a:endParaRPr lang="en-US" dirty="0"/>
          </a:p>
        </p:txBody>
      </p:sp>
      <p:sp>
        <p:nvSpPr>
          <p:cNvPr id="12" name="Footer Placeholder 4"/>
          <p:cNvSpPr>
            <a:spLocks noGrp="1"/>
          </p:cNvSpPr>
          <p:nvPr>
            <p:ph type="ftr" sz="quarter" idx="11"/>
          </p:nvPr>
        </p:nvSpPr>
        <p:spPr/>
        <p:txBody>
          <a:bodyPr/>
          <a:lstStyle>
            <a:lvl1pPr>
              <a:defRPr>
                <a:solidFill>
                  <a:schemeClr val="bg2"/>
                </a:solidFill>
              </a:defRPr>
            </a:lvl1pPr>
          </a:lstStyle>
          <a:p>
            <a:endParaRPr lang="en-US"/>
          </a:p>
        </p:txBody>
      </p:sp>
      <p:sp>
        <p:nvSpPr>
          <p:cNvPr id="13" name="Slide Number Placeholder 5"/>
          <p:cNvSpPr>
            <a:spLocks noGrp="1"/>
          </p:cNvSpPr>
          <p:nvPr>
            <p:ph type="sldNum" sz="quarter" idx="12"/>
          </p:nvPr>
        </p:nvSpPr>
        <p:spPr/>
        <p:txBody>
          <a:bodyPr/>
          <a:lstStyle>
            <a:lvl1pPr>
              <a:defRPr>
                <a:solidFill>
                  <a:schemeClr val="bg2"/>
                </a:solidFill>
              </a:defRPr>
            </a:lvl1pPr>
          </a:lstStyle>
          <a:p>
            <a:fld id="{BD266BE7-899D-4075-917F-DBDE33B6B692}" type="slidenum">
              <a:rPr lang="en-US" smtClean="0"/>
              <a:pPr/>
              <a:t>‹#›</a:t>
            </a:fld>
            <a:endParaRPr lang="en-US"/>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2CCFE9AC-F15C-4FA0-A6F1-298829FA691D}" type="datetimeFigureOut">
              <a:rPr lang="en-US"/>
              <a:t>8/9/2024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3502152" y="-20637"/>
            <a:ext cx="7315200" cy="434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3502152" y="4462272"/>
            <a:ext cx="7315200" cy="17190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3838015" y="658346"/>
            <a:ext cx="6597464" cy="3664417"/>
          </a:xfrm>
        </p:spPr>
        <p:txBody>
          <a:bodyPr anchor="b">
            <a:normAutofit/>
          </a:bodyPr>
          <a:lstStyle>
            <a:lvl1pPr>
              <a:lnSpc>
                <a:spcPct val="90000"/>
              </a:lnSpc>
              <a:defRPr sz="5000" b="1">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3838014" y="4589463"/>
            <a:ext cx="6597465" cy="1500187"/>
          </a:xfrm>
        </p:spPr>
        <p:txBody>
          <a:bodyPr/>
          <a:lstStyle>
            <a:lvl1pPr marL="0" indent="0">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bg2"/>
                </a:solidFill>
              </a:defRPr>
            </a:lvl1pPr>
          </a:lstStyle>
          <a:p>
            <a:fld id="{2CCFE9AC-F15C-4FA0-A6F1-298829FA691D}" type="datetimeFigureOut">
              <a:rPr lang="en-US" smtClean="0"/>
              <a:pPr/>
              <a:t>8/9/2024</a:t>
            </a:fld>
            <a:endParaRPr lang="en-US"/>
          </a:p>
        </p:txBody>
      </p:sp>
      <p:sp>
        <p:nvSpPr>
          <p:cNvPr id="5" name="Footer Placeholder 4"/>
          <p:cNvSpPr>
            <a:spLocks noGrp="1"/>
          </p:cNvSpPr>
          <p:nvPr>
            <p:ph type="ftr" sz="quarter" idx="11"/>
          </p:nvPr>
        </p:nvSpPr>
        <p:spPr/>
        <p:txBody>
          <a:bodyPr/>
          <a:lstStyle>
            <a:lvl1pPr>
              <a:defRPr>
                <a:solidFill>
                  <a:schemeClr val="bg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BD266BE7-899D-4075-917F-DBDE33B6B692}" type="slidenum">
              <a:rPr lang="en-US" smtClean="0"/>
              <a:pPr/>
              <a:t>‹#›</a:t>
            </a:fld>
            <a:endParaRPr lang="en-US"/>
          </a:p>
        </p:txBody>
      </p:sp>
    </p:spTree>
    <p:extLst>
      <p:ext uri="{BB962C8B-B14F-4D97-AF65-F5344CB8AC3E}">
        <p14:creationId xmlns:p14="http://schemas.microsoft.com/office/powerpoint/2010/main" val="4282452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80160" y="2194560"/>
            <a:ext cx="4489704" cy="3986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415368" y="2194560"/>
            <a:ext cx="4493424" cy="3986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2CCFE9AC-F15C-4FA0-A6F1-298829FA691D}" type="datetimeFigureOut">
              <a:rPr lang="en-US"/>
              <a:t>8/9/2024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280160"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80160" y="2743194"/>
            <a:ext cx="4489704" cy="3433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19088"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9088" y="2743194"/>
            <a:ext cx="4489704" cy="3433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2CCFE9AC-F15C-4FA0-A6F1-298829FA691D}" type="datetimeFigureOut">
              <a:rPr lang="en-US"/>
              <a:t>8/9/2024</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2CCFE9AC-F15C-4FA0-A6F1-298829FA691D}" type="datetimeFigureOut">
              <a:rPr lang="en-US"/>
              <a:t>8/9/2024</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CFE9AC-F15C-4FA0-A6F1-298829FA691D}" type="datetimeFigureOut">
              <a:rPr lang="en-US"/>
              <a:t>8/9/2024</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1291818" y="2465294"/>
            <a:ext cx="3834874" cy="3711669"/>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3"/>
          <p:cNvSpPr>
            <a:spLocks noGrp="1"/>
          </p:cNvSpPr>
          <p:nvPr>
            <p:ph idx="1"/>
          </p:nvPr>
        </p:nvSpPr>
        <p:spPr>
          <a:xfrm>
            <a:off x="5518897" y="2465294"/>
            <a:ext cx="5174504" cy="3711669"/>
          </a:xfrm>
        </p:spPr>
        <p:txBody>
          <a:bodyPr>
            <a:norm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2CCFE9AC-F15C-4FA0-A6F1-298829FA691D}" type="datetimeFigureOut">
              <a:rPr lang="en-US"/>
              <a:t>8/9/2024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3"/>
          <p:cNvSpPr>
            <a:spLocks noGrp="1"/>
          </p:cNvSpPr>
          <p:nvPr>
            <p:ph type="body" sz="half" idx="2"/>
          </p:nvPr>
        </p:nvSpPr>
        <p:spPr>
          <a:xfrm>
            <a:off x="1291819" y="2465293"/>
            <a:ext cx="3834874" cy="3711669"/>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518896" y="1828456"/>
            <a:ext cx="5389895" cy="5029544"/>
          </a:xfrm>
        </p:spPr>
        <p:txBody>
          <a:bodyPr tIns="13716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2CCFE9AC-F15C-4FA0-A6F1-298829FA691D}" type="datetimeFigureOut">
              <a:rPr lang="en-US"/>
              <a:t>8/9/2024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16136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2CCFE9AC-F15C-4FA0-A6F1-298829FA691D}" type="datetimeFigureOut">
              <a:rPr lang="en-US"/>
              <a:t>8/9/2024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64405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0" name="Rectangle 9"/>
          <p:cNvSpPr/>
          <p:nvPr/>
        </p:nvSpPr>
        <p:spPr>
          <a:xfrm rot="5400000">
            <a:off x="8267671" y="3370131"/>
            <a:ext cx="6858000"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rot="5400000">
            <a:off x="7523375" y="2743540"/>
            <a:ext cx="6857433" cy="1371487"/>
          </a:xfrm>
          <a:prstGeom prst="rect">
            <a:avLst/>
          </a:prstGeom>
        </p:spPr>
      </p:pic>
      <p:sp>
        <p:nvSpPr>
          <p:cNvPr id="2" name="Vertical Title 1"/>
          <p:cNvSpPr>
            <a:spLocks noGrp="1"/>
          </p:cNvSpPr>
          <p:nvPr>
            <p:ph type="title" orient="vert"/>
          </p:nvPr>
        </p:nvSpPr>
        <p:spPr>
          <a:xfrm>
            <a:off x="10266348" y="462249"/>
            <a:ext cx="1370886" cy="5714714"/>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378199" y="462249"/>
            <a:ext cx="9693088" cy="571471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a:xfrm>
            <a:off x="378199" y="6356350"/>
            <a:ext cx="1971947" cy="365125"/>
          </a:xfrm>
        </p:spPr>
        <p:txBody>
          <a:bodyPr/>
          <a:lstStyle/>
          <a:p>
            <a:fld id="{2CCFE9AC-F15C-4FA0-A6F1-298829FA691D}" type="datetimeFigureOut">
              <a:rPr lang="en-US"/>
              <a:t>8/9/2024</a:t>
            </a:fld>
            <a:endParaRPr/>
          </a:p>
        </p:txBody>
      </p:sp>
      <p:sp>
        <p:nvSpPr>
          <p:cNvPr id="5" name="Footer Placeholder 4"/>
          <p:cNvSpPr>
            <a:spLocks noGrp="1"/>
          </p:cNvSpPr>
          <p:nvPr>
            <p:ph type="ftr" sz="quarter" idx="11"/>
          </p:nvPr>
        </p:nvSpPr>
        <p:spPr>
          <a:xfrm>
            <a:off x="2382374" y="6356350"/>
            <a:ext cx="5687786" cy="365125"/>
          </a:xfrm>
        </p:spPr>
        <p:txBody>
          <a:bodyPr/>
          <a:lstStyle/>
          <a:p>
            <a:endParaRPr/>
          </a:p>
        </p:txBody>
      </p:sp>
      <p:sp>
        <p:nvSpPr>
          <p:cNvPr id="6" name="Slide Number Placeholder 5"/>
          <p:cNvSpPr>
            <a:spLocks noGrp="1"/>
          </p:cNvSpPr>
          <p:nvPr>
            <p:ph type="sldNum" sz="quarter" idx="12"/>
          </p:nvPr>
        </p:nvSpPr>
        <p:spPr>
          <a:xfrm>
            <a:off x="8102389" y="6356350"/>
            <a:ext cx="1968898" cy="365125"/>
          </a:xfrm>
        </p:spPr>
        <p:txBody>
          <a:bodyPr/>
          <a:lstStyle/>
          <a:p>
            <a:fld id="{BD266BE7-899D-4075-917F-DBDE33B6B692}" type="slidenum">
              <a:rPr/>
              <a:t>‹#›</a:t>
            </a:fld>
            <a:endParaRPr/>
          </a:p>
        </p:txBody>
      </p:sp>
    </p:spTree>
    <p:extLst>
      <p:ext uri="{BB962C8B-B14F-4D97-AF65-F5344CB8AC3E}">
        <p14:creationId xmlns:p14="http://schemas.microsoft.com/office/powerpoint/2010/main" val="302941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347472"/>
            <a:ext cx="12188952"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 name="Picture 7"/>
          <p:cNvPicPr>
            <a:picLocks noChangeAspect="1"/>
          </p:cNvPicPr>
          <p:nvPr/>
        </p:nvPicPr>
        <p:blipFill>
          <a:blip r:embed="rId13">
            <a:extLst>
              <a:ext uri="{28A0092B-C50C-407E-A947-70E740481C1C}">
                <a14:useLocalDpi xmlns:a14="http://schemas.microsoft.com/office/drawing/2010/main" val="0"/>
              </a:ext>
            </a:extLst>
          </a:blip>
          <a:stretch>
            <a:fillRect/>
          </a:stretch>
        </p:blipFill>
        <p:spPr bwMode="invGray">
          <a:xfrm>
            <a:off x="0" y="457200"/>
            <a:ext cx="12188952" cy="1371257"/>
          </a:xfrm>
          <a:prstGeom prst="rect">
            <a:avLst/>
          </a:prstGeom>
        </p:spPr>
      </p:pic>
      <p:sp>
        <p:nvSpPr>
          <p:cNvPr id="2" name="Title Placeholder 1"/>
          <p:cNvSpPr>
            <a:spLocks noGrp="1"/>
          </p:cNvSpPr>
          <p:nvPr>
            <p:ph type="title"/>
          </p:nvPr>
        </p:nvSpPr>
        <p:spPr bwMode="black">
          <a:xfrm>
            <a:off x="1280160" y="466343"/>
            <a:ext cx="9628632" cy="1362113"/>
          </a:xfrm>
          <a:prstGeom prst="rect">
            <a:avLst/>
          </a:prstGeom>
        </p:spPr>
        <p:txBody>
          <a:bodyPr vert="horz" lIns="91440" tIns="45720" rIns="9144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1280160" y="2190749"/>
            <a:ext cx="9628632" cy="39862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1280160" y="6356350"/>
            <a:ext cx="1971947" cy="365125"/>
          </a:xfrm>
          <a:prstGeom prst="rect">
            <a:avLst/>
          </a:prstGeom>
        </p:spPr>
        <p:txBody>
          <a:bodyPr vert="horz" lIns="91440" tIns="45720" rIns="91440" bIns="45720" rtlCol="0" anchor="ctr"/>
          <a:lstStyle>
            <a:lvl1pPr algn="l">
              <a:defRPr sz="1200" baseline="0">
                <a:solidFill>
                  <a:schemeClr val="tx1"/>
                </a:solidFill>
              </a:defRPr>
            </a:lvl1pPr>
          </a:lstStyle>
          <a:p>
            <a:fld id="{2CCFE9AC-F15C-4FA0-A6F1-298829FA691D}" type="datetimeFigureOut">
              <a:rPr lang="en-US" smtClean="0"/>
              <a:pPr/>
              <a:t>8/9/2024</a:t>
            </a:fld>
            <a:endParaRPr lang="en-US" dirty="0"/>
          </a:p>
        </p:txBody>
      </p:sp>
      <p:sp>
        <p:nvSpPr>
          <p:cNvPr id="5" name="Footer Placeholder 4"/>
          <p:cNvSpPr>
            <a:spLocks noGrp="1"/>
          </p:cNvSpPr>
          <p:nvPr>
            <p:ph type="ftr" sz="quarter" idx="3"/>
          </p:nvPr>
        </p:nvSpPr>
        <p:spPr>
          <a:xfrm>
            <a:off x="3252107" y="6356350"/>
            <a:ext cx="5687786" cy="365125"/>
          </a:xfrm>
          <a:prstGeom prst="rect">
            <a:avLst/>
          </a:prstGeom>
        </p:spPr>
        <p:txBody>
          <a:bodyPr vert="horz" lIns="91440" tIns="45720" rIns="91440" bIns="45720" rtlCol="0" anchor="ctr"/>
          <a:lstStyle>
            <a:lvl1pPr algn="ctr">
              <a:defRPr sz="1200" baseline="0">
                <a:solidFill>
                  <a:schemeClr val="tx1"/>
                </a:solidFill>
              </a:defRPr>
            </a:lvl1pPr>
          </a:lstStyle>
          <a:p>
            <a:endParaRPr lang="en-US"/>
          </a:p>
        </p:txBody>
      </p:sp>
      <p:sp>
        <p:nvSpPr>
          <p:cNvPr id="6" name="Slide Number Placeholder 5"/>
          <p:cNvSpPr>
            <a:spLocks noGrp="1"/>
          </p:cNvSpPr>
          <p:nvPr>
            <p:ph type="sldNum" sz="quarter" idx="4"/>
          </p:nvPr>
        </p:nvSpPr>
        <p:spPr>
          <a:xfrm>
            <a:off x="8939894" y="6356350"/>
            <a:ext cx="1968898" cy="365125"/>
          </a:xfrm>
          <a:prstGeom prst="rect">
            <a:avLst/>
          </a:prstGeom>
        </p:spPr>
        <p:txBody>
          <a:bodyPr vert="horz" lIns="91440" tIns="45720" rIns="91440" bIns="45720" rtlCol="0" anchor="ctr"/>
          <a:lstStyle>
            <a:lvl1pPr algn="r">
              <a:defRPr sz="1200" baseline="0">
                <a:solidFill>
                  <a:schemeClr val="tx1"/>
                </a:solidFill>
              </a:defRPr>
            </a:lvl1pPr>
          </a:lstStyle>
          <a:p>
            <a:fld id="{BD266BE7-899D-4075-917F-DBDE33B6B692}" type="slidenum">
              <a:rPr lang="en-US" smtClean="0"/>
              <a:pPr/>
              <a:t>‹#›</a:t>
            </a:fld>
            <a:endParaRPr lang="en-US"/>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kern="1200">
          <a:solidFill>
            <a:schemeClr val="bg1"/>
          </a:solidFill>
          <a:latin typeface="+mj-lt"/>
          <a:ea typeface="+mj-ea"/>
          <a:cs typeface="+mj-cs"/>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Machine Learning </a:t>
            </a:r>
            <a:br>
              <a:rPr lang="en-US" dirty="0"/>
            </a:br>
            <a:r>
              <a:rPr lang="en-US" dirty="0"/>
              <a:t>Workflow and Vocabulary</a:t>
            </a:r>
          </a:p>
        </p:txBody>
      </p:sp>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7856D-0E02-334C-C645-7445E2ED929B}"/>
              </a:ext>
            </a:extLst>
          </p:cNvPr>
          <p:cNvSpPr>
            <a:spLocks noGrp="1"/>
          </p:cNvSpPr>
          <p:nvPr>
            <p:ph type="title"/>
          </p:nvPr>
        </p:nvSpPr>
        <p:spPr>
          <a:xfrm>
            <a:off x="458525" y="426586"/>
            <a:ext cx="9628632" cy="1362113"/>
          </a:xfrm>
        </p:spPr>
        <p:txBody>
          <a:bodyPr/>
          <a:lstStyle/>
          <a:p>
            <a:r>
              <a:rPr lang="en-US" dirty="0"/>
              <a:t>Machine Learning Workflow</a:t>
            </a:r>
          </a:p>
        </p:txBody>
      </p:sp>
      <p:sp>
        <p:nvSpPr>
          <p:cNvPr id="3" name="Content Placeholder 2">
            <a:extLst>
              <a:ext uri="{FF2B5EF4-FFF2-40B4-BE49-F238E27FC236}">
                <a16:creationId xmlns:a16="http://schemas.microsoft.com/office/drawing/2014/main" id="{2A5B8E56-0E93-FE7C-0E61-E7E8039DBD73}"/>
              </a:ext>
            </a:extLst>
          </p:cNvPr>
          <p:cNvSpPr>
            <a:spLocks noGrp="1"/>
          </p:cNvSpPr>
          <p:nvPr>
            <p:ph idx="1"/>
          </p:nvPr>
        </p:nvSpPr>
        <p:spPr>
          <a:xfrm>
            <a:off x="344557" y="1987827"/>
            <a:ext cx="11173835" cy="4202388"/>
          </a:xfrm>
        </p:spPr>
        <p:txBody>
          <a:bodyPr>
            <a:normAutofit fontScale="92500" lnSpcReduction="10000"/>
          </a:bodyPr>
          <a:lstStyle/>
          <a:p>
            <a:pPr algn="just" eaLnBrk="1" hangingPunct="1">
              <a:buFont typeface="Wingdings" panose="05000000000000000000" pitchFamily="2" charset="2"/>
              <a:buChar char="ü"/>
            </a:pPr>
            <a:r>
              <a:rPr lang="en-US" altLang="en-US" sz="2400" b="1" dirty="0"/>
              <a:t>Data collection</a:t>
            </a:r>
          </a:p>
          <a:p>
            <a:pPr marL="0" indent="0" algn="just" eaLnBrk="1" hangingPunct="1">
              <a:buNone/>
            </a:pPr>
            <a:r>
              <a:rPr lang="en-US" altLang="en-US" sz="2400" b="1" dirty="0"/>
              <a:t>The data collection step involves gathering the learning </a:t>
            </a:r>
            <a:r>
              <a:rPr lang="en-US" altLang="en-US" sz="2400" dirty="0"/>
              <a:t>material an algorithm will use to generate actionable knowledge. In most cases, the data will need to be combined into a single source like a text file, spreadsheet, or database.</a:t>
            </a:r>
          </a:p>
          <a:p>
            <a:pPr algn="just" eaLnBrk="1" hangingPunct="1"/>
            <a:endParaRPr lang="en-US" altLang="en-US" sz="2400" b="1" dirty="0"/>
          </a:p>
          <a:p>
            <a:pPr algn="just" eaLnBrk="1" hangingPunct="1">
              <a:buFont typeface="Wingdings" panose="05000000000000000000" pitchFamily="2" charset="2"/>
              <a:buChar char="ü"/>
            </a:pPr>
            <a:r>
              <a:rPr lang="en-US" altLang="en-US" sz="2400" b="1" dirty="0"/>
              <a:t>Data exploration and preparation</a:t>
            </a:r>
          </a:p>
          <a:p>
            <a:pPr marL="0" indent="0" algn="just" eaLnBrk="1" hangingPunct="1">
              <a:buNone/>
            </a:pPr>
            <a:r>
              <a:rPr lang="en-US" altLang="en-US" sz="2400" b="1" dirty="0"/>
              <a:t>The quality of any machine learning project </a:t>
            </a:r>
            <a:r>
              <a:rPr lang="en-US" altLang="en-US" sz="2400" dirty="0"/>
              <a:t>is based largely on the quality of its input data. Thus, it is important to learn more about the data and its nuances during a practice called data exploration. Additional work is required to prepare the data for the learning process. This involves fixing or cleaning so-called "messy" data, eliminating unnecessary data, and recoding the data to conform to the learner's expected inputs.</a:t>
            </a:r>
          </a:p>
          <a:p>
            <a:endParaRPr lang="en-US" dirty="0"/>
          </a:p>
        </p:txBody>
      </p:sp>
    </p:spTree>
    <p:extLst>
      <p:ext uri="{BB962C8B-B14F-4D97-AF65-F5344CB8AC3E}">
        <p14:creationId xmlns:p14="http://schemas.microsoft.com/office/powerpoint/2010/main" val="3030130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7856D-0E02-334C-C645-7445E2ED929B}"/>
              </a:ext>
            </a:extLst>
          </p:cNvPr>
          <p:cNvSpPr>
            <a:spLocks noGrp="1"/>
          </p:cNvSpPr>
          <p:nvPr>
            <p:ph type="title"/>
          </p:nvPr>
        </p:nvSpPr>
        <p:spPr>
          <a:xfrm>
            <a:off x="344557" y="439839"/>
            <a:ext cx="9628632" cy="1362113"/>
          </a:xfrm>
        </p:spPr>
        <p:txBody>
          <a:bodyPr/>
          <a:lstStyle/>
          <a:p>
            <a:r>
              <a:rPr lang="en-US" dirty="0"/>
              <a:t>Machine Learning Workflow</a:t>
            </a:r>
          </a:p>
        </p:txBody>
      </p:sp>
      <p:sp>
        <p:nvSpPr>
          <p:cNvPr id="3" name="Content Placeholder 2">
            <a:extLst>
              <a:ext uri="{FF2B5EF4-FFF2-40B4-BE49-F238E27FC236}">
                <a16:creationId xmlns:a16="http://schemas.microsoft.com/office/drawing/2014/main" id="{2A5B8E56-0E93-FE7C-0E61-E7E8039DBD73}"/>
              </a:ext>
            </a:extLst>
          </p:cNvPr>
          <p:cNvSpPr>
            <a:spLocks noGrp="1"/>
          </p:cNvSpPr>
          <p:nvPr>
            <p:ph idx="1"/>
          </p:nvPr>
        </p:nvSpPr>
        <p:spPr>
          <a:xfrm>
            <a:off x="344557" y="1987827"/>
            <a:ext cx="11173835" cy="4202388"/>
          </a:xfrm>
        </p:spPr>
        <p:txBody>
          <a:bodyPr>
            <a:normAutofit fontScale="92500"/>
          </a:bodyPr>
          <a:lstStyle/>
          <a:p>
            <a:pPr algn="just" eaLnBrk="1" hangingPunct="1">
              <a:buFont typeface="Wingdings" panose="05000000000000000000" pitchFamily="2" charset="2"/>
              <a:buChar char="ü"/>
            </a:pPr>
            <a:r>
              <a:rPr lang="en-US" altLang="en-US" sz="2400" b="1" dirty="0"/>
              <a:t>Model training </a:t>
            </a:r>
          </a:p>
          <a:p>
            <a:pPr marL="0" indent="0" algn="just" eaLnBrk="1" hangingPunct="1">
              <a:buNone/>
            </a:pPr>
            <a:r>
              <a:rPr lang="en-US" altLang="en-US" sz="2400" b="1" dirty="0"/>
              <a:t>By the time the data has been prepared for analysis, you </a:t>
            </a:r>
            <a:r>
              <a:rPr lang="en-US" altLang="en-US" sz="2400" dirty="0"/>
              <a:t>are likely to have a sense of what you are capable of learning from the data. The specific machine learning task chosen will inform the selection of an appropriate algorithm, and the algorithm will represent the data in the form of a model.</a:t>
            </a:r>
          </a:p>
          <a:p>
            <a:pPr algn="just" eaLnBrk="1" hangingPunct="1">
              <a:buFont typeface="Wingdings" panose="05000000000000000000" pitchFamily="2" charset="2"/>
              <a:buChar char="ü"/>
            </a:pPr>
            <a:r>
              <a:rPr lang="en-US" altLang="en-US" sz="2400" b="1" dirty="0"/>
              <a:t>Model evaluation</a:t>
            </a:r>
          </a:p>
          <a:p>
            <a:pPr marL="0" indent="0" algn="just" eaLnBrk="1" hangingPunct="1">
              <a:buNone/>
            </a:pPr>
            <a:r>
              <a:rPr lang="en-US" altLang="en-US" sz="2400" b="1" dirty="0"/>
              <a:t>Because each machine learning model results in a biased </a:t>
            </a:r>
            <a:r>
              <a:rPr lang="en-US" altLang="en-US" sz="2400" dirty="0"/>
              <a:t>solution to the learning problem, it is important to evaluate how well the algorithm learns from its experience. Depending on the type of model used, you might be able to evaluate the accuracy of the model using a test dataset or you may need to develop measures of performance specific to the intended application. </a:t>
            </a:r>
            <a:endParaRPr lang="en-US" dirty="0"/>
          </a:p>
        </p:txBody>
      </p:sp>
    </p:spTree>
    <p:extLst>
      <p:ext uri="{BB962C8B-B14F-4D97-AF65-F5344CB8AC3E}">
        <p14:creationId xmlns:p14="http://schemas.microsoft.com/office/powerpoint/2010/main" val="625837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7856D-0E02-334C-C645-7445E2ED929B}"/>
              </a:ext>
            </a:extLst>
          </p:cNvPr>
          <p:cNvSpPr>
            <a:spLocks noGrp="1"/>
          </p:cNvSpPr>
          <p:nvPr>
            <p:ph type="title"/>
          </p:nvPr>
        </p:nvSpPr>
        <p:spPr>
          <a:xfrm>
            <a:off x="344557" y="466343"/>
            <a:ext cx="9628632" cy="1362113"/>
          </a:xfrm>
        </p:spPr>
        <p:txBody>
          <a:bodyPr/>
          <a:lstStyle/>
          <a:p>
            <a:r>
              <a:rPr lang="en-US" dirty="0"/>
              <a:t>Machine Learning Workflow</a:t>
            </a:r>
          </a:p>
        </p:txBody>
      </p:sp>
      <p:sp>
        <p:nvSpPr>
          <p:cNvPr id="3" name="Content Placeholder 2">
            <a:extLst>
              <a:ext uri="{FF2B5EF4-FFF2-40B4-BE49-F238E27FC236}">
                <a16:creationId xmlns:a16="http://schemas.microsoft.com/office/drawing/2014/main" id="{2A5B8E56-0E93-FE7C-0E61-E7E8039DBD73}"/>
              </a:ext>
            </a:extLst>
          </p:cNvPr>
          <p:cNvSpPr>
            <a:spLocks noGrp="1"/>
          </p:cNvSpPr>
          <p:nvPr>
            <p:ph idx="1"/>
          </p:nvPr>
        </p:nvSpPr>
        <p:spPr>
          <a:xfrm>
            <a:off x="344557" y="1987827"/>
            <a:ext cx="11173835" cy="2305877"/>
          </a:xfrm>
        </p:spPr>
        <p:txBody>
          <a:bodyPr>
            <a:normAutofit/>
          </a:bodyPr>
          <a:lstStyle/>
          <a:p>
            <a:pPr algn="just">
              <a:buFont typeface="Wingdings" panose="05000000000000000000" pitchFamily="2" charset="2"/>
              <a:buChar char="ü"/>
            </a:pPr>
            <a:r>
              <a:rPr lang="en-US" altLang="en-US" b="1" dirty="0"/>
              <a:t>Model improvement</a:t>
            </a:r>
          </a:p>
          <a:p>
            <a:pPr marL="0" indent="0" algn="just">
              <a:buNone/>
            </a:pPr>
            <a:r>
              <a:rPr lang="en-US" altLang="en-US" b="1" dirty="0"/>
              <a:t>If better performance is needed, it becomes necessary </a:t>
            </a:r>
            <a:r>
              <a:rPr lang="en-US" altLang="en-US" dirty="0"/>
              <a:t>to utilize more advanced strategies to augment the performance of the model. Sometimes, it may be necessary to switch to a different type of model altogether. You may need to supplement your data with additional data or perform additional preparatory work as in step two of this process.</a:t>
            </a:r>
          </a:p>
          <a:p>
            <a:pPr algn="just" eaLnBrk="1" hangingPunct="1">
              <a:buFont typeface="Wingdings" panose="05000000000000000000" pitchFamily="2" charset="2"/>
              <a:buChar char="ü"/>
            </a:pPr>
            <a:endParaRPr lang="en-US" dirty="0"/>
          </a:p>
        </p:txBody>
      </p:sp>
    </p:spTree>
    <p:extLst>
      <p:ext uri="{BB962C8B-B14F-4D97-AF65-F5344CB8AC3E}">
        <p14:creationId xmlns:p14="http://schemas.microsoft.com/office/powerpoint/2010/main" val="2960625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p:txBody>
          <a:bodyPr/>
          <a:lstStyle/>
          <a:p>
            <a:r>
              <a:rPr lang="en-US" dirty="0"/>
              <a:t>Machine Learning Vocabulary</a:t>
            </a:r>
          </a:p>
        </p:txBody>
      </p:sp>
      <p:sp>
        <p:nvSpPr>
          <p:cNvPr id="14" name="Content Placeholder 2"/>
          <p:cNvSpPr>
            <a:spLocks noGrp="1"/>
          </p:cNvSpPr>
          <p:nvPr>
            <p:ph idx="1"/>
          </p:nvPr>
        </p:nvSpPr>
        <p:spPr/>
        <p:txBody>
          <a:bodyPr/>
          <a:lstStyle/>
          <a:p>
            <a:r>
              <a:rPr lang="en-US" b="1" dirty="0"/>
              <a:t>Target: </a:t>
            </a:r>
            <a:r>
              <a:rPr lang="en-US" dirty="0"/>
              <a:t>Category or value that we are trying to predict</a:t>
            </a:r>
          </a:p>
        </p:txBody>
      </p:sp>
      <p:pic>
        <p:nvPicPr>
          <p:cNvPr id="3" name="Picture 2">
            <a:extLst>
              <a:ext uri="{FF2B5EF4-FFF2-40B4-BE49-F238E27FC236}">
                <a16:creationId xmlns:a16="http://schemas.microsoft.com/office/drawing/2014/main" id="{D83C6E47-2373-E544-7B14-C2EA2816A28E}"/>
              </a:ext>
            </a:extLst>
          </p:cNvPr>
          <p:cNvPicPr>
            <a:picLocks noChangeAspect="1"/>
          </p:cNvPicPr>
          <p:nvPr/>
        </p:nvPicPr>
        <p:blipFill rotWithShape="1">
          <a:blip r:embed="rId2"/>
          <a:srcRect l="28586" t="41734" r="23153" b="11287"/>
          <a:stretch/>
        </p:blipFill>
        <p:spPr>
          <a:xfrm>
            <a:off x="1603513" y="2822714"/>
            <a:ext cx="5883965" cy="3220278"/>
          </a:xfrm>
          <a:prstGeom prst="rect">
            <a:avLst/>
          </a:prstGeom>
        </p:spPr>
      </p:pic>
    </p:spTree>
    <p:extLst>
      <p:ext uri="{BB962C8B-B14F-4D97-AF65-F5344CB8AC3E}">
        <p14:creationId xmlns:p14="http://schemas.microsoft.com/office/powerpoint/2010/main" val="1440355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a:spLocks noGrp="1"/>
          </p:cNvSpPr>
          <p:nvPr>
            <p:ph idx="1"/>
          </p:nvPr>
        </p:nvSpPr>
        <p:spPr>
          <a:xfrm>
            <a:off x="1280160" y="2190749"/>
            <a:ext cx="9628632" cy="4461842"/>
          </a:xfrm>
        </p:spPr>
        <p:txBody>
          <a:bodyPr>
            <a:normAutofit lnSpcReduction="10000"/>
          </a:bodyPr>
          <a:lstStyle/>
          <a:p>
            <a:r>
              <a:rPr lang="en-US" b="1" dirty="0"/>
              <a:t>Features: </a:t>
            </a:r>
            <a:r>
              <a:rPr lang="en-US" dirty="0"/>
              <a:t>Properties of the data used for prediction (explanatory data)</a:t>
            </a:r>
          </a:p>
          <a:p>
            <a:endParaRPr lang="en-US" dirty="0"/>
          </a:p>
          <a:p>
            <a:endParaRPr lang="en-US" dirty="0"/>
          </a:p>
          <a:p>
            <a:endParaRPr lang="en-US" dirty="0"/>
          </a:p>
          <a:p>
            <a:endParaRPr lang="en-US" dirty="0"/>
          </a:p>
          <a:p>
            <a:endParaRPr lang="en-US" dirty="0"/>
          </a:p>
          <a:p>
            <a:endParaRPr lang="en-US" dirty="0"/>
          </a:p>
          <a:p>
            <a:pPr marL="0" indent="0">
              <a:buNone/>
            </a:pPr>
            <a:endParaRPr lang="en-US" dirty="0"/>
          </a:p>
          <a:p>
            <a:pPr marL="0" indent="0">
              <a:buNone/>
            </a:pPr>
            <a:r>
              <a:rPr lang="en-US" dirty="0"/>
              <a:t>Note :- Features are all the columns besides the target column</a:t>
            </a:r>
          </a:p>
        </p:txBody>
      </p:sp>
      <p:pic>
        <p:nvPicPr>
          <p:cNvPr id="3" name="Picture 2">
            <a:extLst>
              <a:ext uri="{FF2B5EF4-FFF2-40B4-BE49-F238E27FC236}">
                <a16:creationId xmlns:a16="http://schemas.microsoft.com/office/drawing/2014/main" id="{D83C6E47-2373-E544-7B14-C2EA2816A28E}"/>
              </a:ext>
            </a:extLst>
          </p:cNvPr>
          <p:cNvPicPr>
            <a:picLocks noChangeAspect="1"/>
          </p:cNvPicPr>
          <p:nvPr/>
        </p:nvPicPr>
        <p:blipFill rotWithShape="1">
          <a:blip r:embed="rId2"/>
          <a:srcRect l="28586" t="41734" r="23153" b="11287"/>
          <a:stretch/>
        </p:blipFill>
        <p:spPr>
          <a:xfrm>
            <a:off x="1603513" y="2822714"/>
            <a:ext cx="5883965" cy="3220278"/>
          </a:xfrm>
          <a:prstGeom prst="rect">
            <a:avLst/>
          </a:prstGeom>
        </p:spPr>
      </p:pic>
      <p:sp>
        <p:nvSpPr>
          <p:cNvPr id="6" name="Title 1">
            <a:extLst>
              <a:ext uri="{FF2B5EF4-FFF2-40B4-BE49-F238E27FC236}">
                <a16:creationId xmlns:a16="http://schemas.microsoft.com/office/drawing/2014/main" id="{0D6BC2FF-790A-76D8-975D-594CEAC22EF2}"/>
              </a:ext>
            </a:extLst>
          </p:cNvPr>
          <p:cNvSpPr>
            <a:spLocks noGrp="1"/>
          </p:cNvSpPr>
          <p:nvPr>
            <p:ph type="title"/>
          </p:nvPr>
        </p:nvSpPr>
        <p:spPr>
          <a:xfrm>
            <a:off x="1279525" y="466725"/>
            <a:ext cx="9629775" cy="1362075"/>
          </a:xfrm>
        </p:spPr>
        <p:txBody>
          <a:bodyPr/>
          <a:lstStyle/>
          <a:p>
            <a:r>
              <a:rPr lang="en-US" dirty="0"/>
              <a:t>Machine Learning Vocabulary</a:t>
            </a:r>
          </a:p>
        </p:txBody>
      </p:sp>
    </p:spTree>
    <p:extLst>
      <p:ext uri="{BB962C8B-B14F-4D97-AF65-F5344CB8AC3E}">
        <p14:creationId xmlns:p14="http://schemas.microsoft.com/office/powerpoint/2010/main" val="1862825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a:spLocks noGrp="1"/>
          </p:cNvSpPr>
          <p:nvPr>
            <p:ph idx="1"/>
          </p:nvPr>
        </p:nvSpPr>
        <p:spPr>
          <a:xfrm>
            <a:off x="1280160" y="2190749"/>
            <a:ext cx="9864918" cy="4461842"/>
          </a:xfrm>
        </p:spPr>
        <p:txBody>
          <a:bodyPr>
            <a:normAutofit/>
          </a:bodyPr>
          <a:lstStyle/>
          <a:p>
            <a:r>
              <a:rPr lang="en-US" b="1" dirty="0"/>
              <a:t>Observation/Sample/Example: </a:t>
            </a:r>
            <a:r>
              <a:rPr lang="en-US" dirty="0"/>
              <a:t>A single data point within the data (one row)</a:t>
            </a:r>
          </a:p>
          <a:p>
            <a:endParaRPr lang="en-US" dirty="0"/>
          </a:p>
          <a:p>
            <a:endParaRPr lang="en-US" dirty="0"/>
          </a:p>
          <a:p>
            <a:endParaRPr lang="en-US" dirty="0"/>
          </a:p>
          <a:p>
            <a:endParaRPr lang="en-US" dirty="0"/>
          </a:p>
          <a:p>
            <a:endParaRPr lang="en-US" dirty="0"/>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8DC137D1-4B3B-B6CD-A7E0-87F76A74FF41}"/>
              </a:ext>
            </a:extLst>
          </p:cNvPr>
          <p:cNvPicPr>
            <a:picLocks noChangeAspect="1"/>
          </p:cNvPicPr>
          <p:nvPr/>
        </p:nvPicPr>
        <p:blipFill rotWithShape="1">
          <a:blip r:embed="rId2"/>
          <a:srcRect l="28261" t="41155" r="14019" b="15859"/>
          <a:stretch/>
        </p:blipFill>
        <p:spPr>
          <a:xfrm>
            <a:off x="1391478" y="2738645"/>
            <a:ext cx="7050157" cy="2946538"/>
          </a:xfrm>
          <a:prstGeom prst="rect">
            <a:avLst/>
          </a:prstGeom>
        </p:spPr>
      </p:pic>
      <p:sp>
        <p:nvSpPr>
          <p:cNvPr id="7" name="Title 1">
            <a:extLst>
              <a:ext uri="{FF2B5EF4-FFF2-40B4-BE49-F238E27FC236}">
                <a16:creationId xmlns:a16="http://schemas.microsoft.com/office/drawing/2014/main" id="{1DB647AC-A936-FF1A-3205-52D11B6766A8}"/>
              </a:ext>
            </a:extLst>
          </p:cNvPr>
          <p:cNvSpPr>
            <a:spLocks noGrp="1"/>
          </p:cNvSpPr>
          <p:nvPr>
            <p:ph type="title"/>
          </p:nvPr>
        </p:nvSpPr>
        <p:spPr>
          <a:xfrm>
            <a:off x="1280160" y="466343"/>
            <a:ext cx="9628632" cy="1362113"/>
          </a:xfrm>
        </p:spPr>
        <p:txBody>
          <a:bodyPr/>
          <a:lstStyle/>
          <a:p>
            <a:r>
              <a:rPr lang="en-US" dirty="0"/>
              <a:t>Machine Learning Vocabulary</a:t>
            </a:r>
          </a:p>
        </p:txBody>
      </p:sp>
    </p:spTree>
    <p:extLst>
      <p:ext uri="{BB962C8B-B14F-4D97-AF65-F5344CB8AC3E}">
        <p14:creationId xmlns:p14="http://schemas.microsoft.com/office/powerpoint/2010/main" val="248381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a:spLocks noGrp="1"/>
          </p:cNvSpPr>
          <p:nvPr>
            <p:ph idx="1"/>
          </p:nvPr>
        </p:nvSpPr>
        <p:spPr>
          <a:xfrm>
            <a:off x="1280160" y="2190749"/>
            <a:ext cx="9628632" cy="4461842"/>
          </a:xfrm>
        </p:spPr>
        <p:txBody>
          <a:bodyPr>
            <a:normAutofit/>
          </a:bodyPr>
          <a:lstStyle/>
          <a:p>
            <a:r>
              <a:rPr lang="en-US" b="1" dirty="0"/>
              <a:t>Label: </a:t>
            </a:r>
            <a:r>
              <a:rPr lang="en-US" dirty="0"/>
              <a:t>The target value for a single data point </a:t>
            </a:r>
          </a:p>
          <a:p>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pic>
        <p:nvPicPr>
          <p:cNvPr id="4" name="Picture 3">
            <a:extLst>
              <a:ext uri="{FF2B5EF4-FFF2-40B4-BE49-F238E27FC236}">
                <a16:creationId xmlns:a16="http://schemas.microsoft.com/office/drawing/2014/main" id="{CF0A280D-4D13-1765-F796-D71B8C049222}"/>
              </a:ext>
            </a:extLst>
          </p:cNvPr>
          <p:cNvPicPr>
            <a:picLocks noChangeAspect="1"/>
          </p:cNvPicPr>
          <p:nvPr/>
        </p:nvPicPr>
        <p:blipFill rotWithShape="1">
          <a:blip r:embed="rId2"/>
          <a:srcRect l="28152" t="41348" r="17717" b="11478"/>
          <a:stretch/>
        </p:blipFill>
        <p:spPr>
          <a:xfrm>
            <a:off x="1510746" y="2804904"/>
            <a:ext cx="6599583" cy="3233531"/>
          </a:xfrm>
          <a:prstGeom prst="rect">
            <a:avLst/>
          </a:prstGeom>
        </p:spPr>
      </p:pic>
      <p:sp>
        <p:nvSpPr>
          <p:cNvPr id="6" name="Title 1">
            <a:extLst>
              <a:ext uri="{FF2B5EF4-FFF2-40B4-BE49-F238E27FC236}">
                <a16:creationId xmlns:a16="http://schemas.microsoft.com/office/drawing/2014/main" id="{4A3D4EED-B79A-426B-39E0-E81A1EAD653F}"/>
              </a:ext>
            </a:extLst>
          </p:cNvPr>
          <p:cNvSpPr>
            <a:spLocks noGrp="1"/>
          </p:cNvSpPr>
          <p:nvPr>
            <p:ph type="title"/>
          </p:nvPr>
        </p:nvSpPr>
        <p:spPr>
          <a:xfrm>
            <a:off x="1280160" y="466343"/>
            <a:ext cx="9628632" cy="1362113"/>
          </a:xfrm>
        </p:spPr>
        <p:txBody>
          <a:bodyPr/>
          <a:lstStyle/>
          <a:p>
            <a:r>
              <a:rPr lang="en-US" dirty="0"/>
              <a:t>Machine Learning Vocabulary</a:t>
            </a:r>
          </a:p>
        </p:txBody>
      </p:sp>
    </p:spTree>
    <p:extLst>
      <p:ext uri="{BB962C8B-B14F-4D97-AF65-F5344CB8AC3E}">
        <p14:creationId xmlns:p14="http://schemas.microsoft.com/office/powerpoint/2010/main" val="55694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al subjects 16x9">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27.potx" id="{6B18C398-4F76-4BDC-B8A4-D02A96E0AA82}" vid="{FBF1AC64-E511-41D2-AA23-0E693E79CD77}"/>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Educational subjects presentation, chalkboard illustrations design (widescreen)</Template>
  <TotalTime>25</TotalTime>
  <Words>409</Words>
  <Application>Microsoft Office PowerPoint</Application>
  <PresentationFormat>Widescreen</PresentationFormat>
  <Paragraphs>41</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Calibri</vt:lpstr>
      <vt:lpstr>Wingdings</vt:lpstr>
      <vt:lpstr>Educational subjects 16x9</vt:lpstr>
      <vt:lpstr>Machine Learning  Workflow and Vocabulary</vt:lpstr>
      <vt:lpstr>Machine Learning Workflow</vt:lpstr>
      <vt:lpstr>Machine Learning Workflow</vt:lpstr>
      <vt:lpstr>Machine Learning Workflow</vt:lpstr>
      <vt:lpstr>Machine Learning Vocabulary</vt:lpstr>
      <vt:lpstr>Machine Learning Vocabulary</vt:lpstr>
      <vt:lpstr>Machine Learning Vocabulary</vt:lpstr>
      <vt:lpstr>Machine Learning Vocabulary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Workflow and Vocabulary</dc:title>
  <dc:creator>Savleen Kaur</dc:creator>
  <cp:lastModifiedBy>Tanima Thakur</cp:lastModifiedBy>
  <cp:revision>5</cp:revision>
  <dcterms:created xsi:type="dcterms:W3CDTF">2023-08-11T10:42:54Z</dcterms:created>
  <dcterms:modified xsi:type="dcterms:W3CDTF">2024-08-09T04:43:24Z</dcterms:modified>
</cp:coreProperties>
</file>