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C4A1B-265C-887B-9C04-70C4053F4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99540-08F3-5FE3-00CA-0B276E4D7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B3341-3FC5-839D-4498-7D7EBF5B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4837E-35AE-E0FB-F620-989E93FBF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FF8CD-B88D-013E-0BC2-EC2C52CB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38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A4C9-D77D-B6D9-80C4-7F272497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C32F5-B5EC-25CC-7C22-3B8FCB804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C461B-5C9F-7AD1-4C5A-59D1A0FE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DDC2A-8F70-4556-CC68-87D36841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65545-72CF-C086-666A-7FB755D9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2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66F1-A0B8-8754-9187-482365E8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4D339-4CF6-294B-1060-D4904F2A8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9BBB-2048-DF95-6306-B4FD7B67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B02CF-1E23-B41C-04BE-07ECE57F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6018-A5E1-2BD5-6F80-C0DDB0DA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7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590C-8B67-5FDC-E38C-550CF0F9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ACED7-E5ED-E2F6-34A5-41D37FCF7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7FA07-E7EB-255D-D3A1-238049BBA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E771B-3459-B33C-95AE-B0B0326E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1D9C7-C7E8-9335-C997-FAC1BD74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C901E-8F57-8EF9-1CB0-F7EAFE0E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3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F813-AB9C-0BD5-0758-C39EBF69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0C6A2-4713-A9E9-C0E3-CDEAD56A8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1D17-4D43-6BFD-4873-3663BD7DB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4D6A0-7350-83E6-5E86-A789B36B5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D21F7-E2CA-66B1-9C88-6576AF364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4699A-B6B7-B36B-8487-18BE73B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02C45-AEC1-CFC4-EDBD-54E6E433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4069E-A633-9CAD-2485-7D7E8261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5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3949C-A933-B67E-E371-B85D1A07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8CD6DA-23D2-742F-88A6-484A9D3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FBEE8-B64A-DFEF-F5FC-E5A4EFC1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55620-CD16-2333-3A1F-C66536ED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599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E22E22-F175-CBAC-4607-89EE30E98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DE286-F89E-3F39-5311-F062BF8A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1A340-1796-4FED-9083-DE7DBB09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6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D06D-2475-C97E-02BD-E7F0A730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68045-B77F-A59D-3208-176456904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E43BA-2610-D2A4-9A89-02D04BFF2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A4435-B958-AC62-35F2-6116BB56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C73A0-0A59-CC81-AB5E-86489FE3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F155-1F7A-CE74-DB6D-315D3C22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144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238E-94B1-4AB5-2130-E5C28699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0B7E0-FA8E-A14B-9743-375163DC9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5A79B-D17B-28A9-6D9E-6C7F5CF18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36F43-8200-B80A-2D15-1622086F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34E89-14C1-6FC4-E681-49051F72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141FE-7A7A-1C2D-3476-F8CDBCD4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7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23CA-987F-62B7-6231-4E54DF14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1E052-FCBB-B847-F533-9CC732F57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756D8-CE76-6C11-2E52-D9FC598B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A481-599C-06FD-4738-1B9D1F01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5809-D8F4-1D9B-4FC6-0C77E609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85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A8BB5-0ACE-E881-A155-5CA45D157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5CCF8-1FFA-E7E8-56EC-EDED84D1F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4C22-3BD9-FBA6-BEE7-3F73CE4A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FFDD-F526-7C24-B7CC-89BD9E48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EFEF-62BE-118B-CEAE-D23BDFA9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6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E4D3B-DE00-FB57-189D-AC63C095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BEA7A-3762-1DD0-B405-DEDE0EFA0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EA4A-C10E-CF98-0245-D7B838FC1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1C769-5622-4A8B-BF22-879E282B00DA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70B8F-7B95-DE1F-DA50-0DE3C0D01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E9D6B-7067-EE04-239C-DBF2CFD34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AAFEA-4CD3-4CCA-ACF8-CD71BAEDB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61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F22F7-93D8-A053-1ACD-228BD0801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125" y="818985"/>
            <a:ext cx="10090141" cy="950822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solidFill>
                  <a:schemeClr val="bg1"/>
                </a:solidFill>
              </a:rPr>
              <a:t>Evaluate Model Performance</a:t>
            </a: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376AF-9CA4-B9FA-341E-22FDF3A3FF8B}"/>
              </a:ext>
            </a:extLst>
          </p:cNvPr>
          <p:cNvSpPr txBox="1"/>
          <p:nvPr/>
        </p:nvSpPr>
        <p:spPr>
          <a:xfrm>
            <a:off x="783647" y="1880678"/>
            <a:ext cx="83714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Ordinary Least Squares Estimation, Correlations,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Mean Absolute Error (MAE)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Mean Squared Error (MSE)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R-squared (R²) 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Root Mean Squared Error (RMSE)</a:t>
            </a:r>
          </a:p>
        </p:txBody>
      </p:sp>
    </p:spTree>
    <p:extLst>
      <p:ext uri="{BB962C8B-B14F-4D97-AF65-F5344CB8AC3E}">
        <p14:creationId xmlns:p14="http://schemas.microsoft.com/office/powerpoint/2010/main" val="2019890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0AA0-8E04-B958-20FD-94BE7326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Ordinary Least Squares (OLS)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09856-2C9A-D48E-56A2-18C1FC506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least squares minimizes squared prediction errors.</a:t>
            </a:r>
          </a:p>
          <a:p>
            <a:pPr marL="342900" lvl="0" indent="-34290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line explains dependent variable variation clearly.</a:t>
            </a:r>
          </a:p>
          <a:p>
            <a:pPr marL="342900" lvl="0" indent="-34290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coefficients using linear algebraic normal equations.</a:t>
            </a:r>
          </a:p>
          <a:p>
            <a:pPr marL="342900" lvl="0" indent="-34290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include linearity, independence, homoscedasticity, normality.</a:t>
            </a:r>
          </a:p>
          <a:p>
            <a:pPr marL="342900" lvl="0" indent="-34290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best linear unbiased estimators under conditions.</a:t>
            </a:r>
          </a:p>
          <a:p>
            <a:pPr marL="342900" lvl="0" indent="-34290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applied in econometrics and statistics.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61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93F0-74EF-65DF-127C-27CBC7AB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OLS Mathematics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2B75-FE8F-304D-37D1-511B34DBF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Equation: y = β₀ + β₁x + ε.</a:t>
            </a:r>
          </a:p>
          <a:p>
            <a:pPr lvl="0"/>
            <a:r>
              <a:rPr lang="en-IN" dirty="0"/>
              <a:t> Coefficient formula: β = (XᵀX)⁻¹Xᵀy.</a:t>
            </a:r>
          </a:p>
          <a:p>
            <a:pPr lvl="0"/>
            <a:r>
              <a:rPr lang="en-IN" dirty="0"/>
              <a:t> Minimizes sum of squared residuals always.</a:t>
            </a:r>
          </a:p>
          <a:p>
            <a:pPr lvl="0"/>
            <a:r>
              <a:rPr lang="en-IN" dirty="0"/>
              <a:t> Produces slope and intercept interpretable statistically.</a:t>
            </a:r>
          </a:p>
          <a:p>
            <a:pPr lvl="0"/>
            <a:r>
              <a:rPr lang="en-IN" dirty="0"/>
              <a:t> Explains predictor influence on response variable.</a:t>
            </a:r>
          </a:p>
          <a:p>
            <a:pPr lvl="0"/>
            <a:r>
              <a:rPr lang="en-IN" dirty="0"/>
              <a:t> Foundation of linear regression methodologies globally.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48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8796-BF64-43F0-71BA-449444E3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OLS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9651-1674-90F2-F4E1-9C174E87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Python </a:t>
            </a:r>
            <a:r>
              <a:rPr lang="en-IN" dirty="0" err="1"/>
              <a:t>sklearn</a:t>
            </a:r>
            <a:r>
              <a:rPr lang="en-IN" dirty="0"/>
              <a:t> library provides </a:t>
            </a:r>
            <a:r>
              <a:rPr lang="en-IN" dirty="0" err="1"/>
              <a:t>LinearRegression</a:t>
            </a:r>
            <a:r>
              <a:rPr lang="en-IN" dirty="0"/>
              <a:t> model.</a:t>
            </a:r>
          </a:p>
          <a:p>
            <a:pPr lvl="0"/>
            <a:r>
              <a:rPr lang="en-IN" dirty="0"/>
              <a:t> Fit model using </a:t>
            </a:r>
            <a:r>
              <a:rPr lang="en-IN" dirty="0" err="1"/>
              <a:t>model.fit</a:t>
            </a:r>
            <a:r>
              <a:rPr lang="en-IN" dirty="0"/>
              <a:t>(X, y).</a:t>
            </a:r>
          </a:p>
          <a:p>
            <a:pPr lvl="0"/>
            <a:r>
              <a:rPr lang="en-IN" dirty="0"/>
              <a:t> Predictions obtained using </a:t>
            </a:r>
            <a:r>
              <a:rPr lang="en-IN" dirty="0" err="1"/>
              <a:t>model.predict</a:t>
            </a:r>
            <a:r>
              <a:rPr lang="en-IN" dirty="0"/>
              <a:t>(</a:t>
            </a:r>
            <a:r>
              <a:rPr lang="en-IN" dirty="0" err="1"/>
              <a:t>test_data</a:t>
            </a:r>
            <a:r>
              <a:rPr lang="en-IN" dirty="0"/>
              <a:t>).</a:t>
            </a:r>
          </a:p>
          <a:p>
            <a:pPr lvl="0"/>
            <a:r>
              <a:rPr lang="en-IN" dirty="0"/>
              <a:t> Coefficients accessed through </a:t>
            </a:r>
            <a:r>
              <a:rPr lang="en-IN" dirty="0" err="1"/>
              <a:t>model.coef</a:t>
            </a:r>
            <a:r>
              <a:rPr lang="en-IN" dirty="0"/>
              <a:t>_ attribute.</a:t>
            </a:r>
          </a:p>
          <a:p>
            <a:pPr lvl="0"/>
            <a:r>
              <a:rPr lang="en-IN" dirty="0"/>
              <a:t> Intercept retrieved using </a:t>
            </a:r>
            <a:r>
              <a:rPr lang="en-IN" dirty="0" err="1"/>
              <a:t>model.intercept</a:t>
            </a:r>
            <a:r>
              <a:rPr lang="en-IN" dirty="0"/>
              <a:t>_ property.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6705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5474C-3637-3C75-F4E7-C1AF3417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OLS Visualization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slide1_ols.png">
            <a:extLst>
              <a:ext uri="{FF2B5EF4-FFF2-40B4-BE49-F238E27FC236}">
                <a16:creationId xmlns:a16="http://schemas.microsoft.com/office/drawing/2014/main" id="{116D0514-EA2A-8269-46CF-B4CB9F1F4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30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DEDC-BDCA-E0EA-14C0-5213F14F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B1B7F-28B8-4C52-DCD6-3F96E078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Correlation measures strength of linear relationships.</a:t>
            </a:r>
          </a:p>
          <a:p>
            <a:pPr lvl="0"/>
            <a:r>
              <a:rPr lang="en-IN" dirty="0"/>
              <a:t> Range spans negative one to positive one.</a:t>
            </a:r>
          </a:p>
          <a:p>
            <a:pPr lvl="0"/>
            <a:r>
              <a:rPr lang="en-IN" dirty="0"/>
              <a:t> Positive correlation indicates increasing variable trends.</a:t>
            </a:r>
          </a:p>
          <a:p>
            <a:pPr lvl="0"/>
            <a:r>
              <a:rPr lang="en-IN" dirty="0"/>
              <a:t> Negative correlation reflects opposite directional movements.</a:t>
            </a:r>
          </a:p>
          <a:p>
            <a:pPr lvl="0"/>
            <a:r>
              <a:rPr lang="en-IN" dirty="0"/>
              <a:t> Zero correlation means no linear association.</a:t>
            </a:r>
          </a:p>
          <a:p>
            <a:pPr lvl="0"/>
            <a:r>
              <a:rPr lang="en-IN" dirty="0"/>
              <a:t> Key tool in exploratory data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666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8C8B-0BD9-1CF4-E35C-4AF7C91B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Correlation Mathematics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450E-D0B5-EEFE-D5A1-C993084B2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Formula: r = </a:t>
            </a:r>
            <a:r>
              <a:rPr lang="en-IN" dirty="0" err="1"/>
              <a:t>cov</a:t>
            </a:r>
            <a:r>
              <a:rPr lang="en-IN" dirty="0"/>
              <a:t>(X,Y)/(</a:t>
            </a:r>
            <a:r>
              <a:rPr lang="en-IN" dirty="0" err="1"/>
              <a:t>σxσy</a:t>
            </a:r>
            <a:r>
              <a:rPr lang="en-IN" dirty="0"/>
              <a:t>).</a:t>
            </a:r>
          </a:p>
          <a:p>
            <a:pPr lvl="0"/>
            <a:r>
              <a:rPr lang="en-IN" dirty="0"/>
              <a:t> Coefficient values near one indicate strong association.</a:t>
            </a:r>
          </a:p>
          <a:p>
            <a:pPr lvl="0"/>
            <a:r>
              <a:rPr lang="en-IN" dirty="0"/>
              <a:t> Negative correlation shows opposite proportional variation.</a:t>
            </a:r>
          </a:p>
          <a:p>
            <a:pPr lvl="0"/>
            <a:r>
              <a:rPr lang="en-IN" dirty="0"/>
              <a:t> Scatterplots visually confirm correlation between variables.</a:t>
            </a:r>
          </a:p>
          <a:p>
            <a:pPr lvl="0"/>
            <a:r>
              <a:rPr lang="en-IN" dirty="0"/>
              <a:t> Correlation matrices summarize multiple pairwise relationships.</a:t>
            </a:r>
          </a:p>
          <a:p>
            <a:r>
              <a:rPr lang="en-IN" dirty="0"/>
              <a:t> Applied extensively before regression or forecasting tasks.</a:t>
            </a:r>
          </a:p>
        </p:txBody>
      </p:sp>
    </p:spTree>
    <p:extLst>
      <p:ext uri="{BB962C8B-B14F-4D97-AF65-F5344CB8AC3E}">
        <p14:creationId xmlns:p14="http://schemas.microsoft.com/office/powerpoint/2010/main" val="18734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A820-ECBF-6C82-ED59-9A46E6FD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Correlation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D280-4DD9-F261-848E-86E150CAC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Python pandas provides </a:t>
            </a:r>
            <a:r>
              <a:rPr lang="en-IN" dirty="0" err="1"/>
              <a:t>corr</a:t>
            </a:r>
            <a:r>
              <a:rPr lang="en-IN" dirty="0"/>
              <a:t>() correlation method.</a:t>
            </a:r>
          </a:p>
          <a:p>
            <a:pPr lvl="0"/>
            <a:r>
              <a:rPr lang="en-IN" dirty="0"/>
              <a:t> </a:t>
            </a:r>
            <a:r>
              <a:rPr lang="en-IN" dirty="0" err="1"/>
              <a:t>df.corr</a:t>
            </a:r>
            <a:r>
              <a:rPr lang="en-IN" dirty="0"/>
              <a:t> calculates pairwise variable correlation matrix.</a:t>
            </a:r>
          </a:p>
          <a:p>
            <a:pPr lvl="0"/>
            <a:r>
              <a:rPr lang="en-IN" dirty="0"/>
              <a:t> Seaborn heatmap visualizes correlation coefficients visually.</a:t>
            </a:r>
          </a:p>
          <a:p>
            <a:pPr lvl="0"/>
            <a:r>
              <a:rPr lang="en-IN" dirty="0"/>
              <a:t> Scatterplots highlight strong positive or negative trends.</a:t>
            </a:r>
          </a:p>
          <a:p>
            <a:pPr lvl="0"/>
            <a:r>
              <a:rPr lang="en-IN" dirty="0"/>
              <a:t> Helps detect multicollinearity in regression models.</a:t>
            </a:r>
          </a:p>
          <a:p>
            <a:pPr lvl="0"/>
            <a:r>
              <a:rPr lang="en-IN" dirty="0"/>
              <a:t> Enhances data understanding before predictive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28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3412F-5AFD-2513-9309-69B6EF1B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Correlation Visualization</a:t>
            </a:r>
            <a:b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slide2_corr.png">
            <a:extLst>
              <a:ext uri="{FF2B5EF4-FFF2-40B4-BE49-F238E27FC236}">
                <a16:creationId xmlns:a16="http://schemas.microsoft.com/office/drawing/2014/main" id="{6BE69D02-C997-E95B-9FB8-EFABFC34C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7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8BA8-EEC5-9DC3-5BB7-53294D3A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MAE (Mean Absolute Error)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61C27-31B9-EF8F-C0D2-997DDA17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MAE measures mean difference predicted actual.</a:t>
            </a:r>
          </a:p>
          <a:p>
            <a:pPr lvl="0"/>
            <a:r>
              <a:rPr lang="en-IN" dirty="0"/>
              <a:t> Expressed in same units as response variable.</a:t>
            </a:r>
          </a:p>
          <a:p>
            <a:pPr lvl="0"/>
            <a:r>
              <a:rPr lang="en-IN" dirty="0"/>
              <a:t> Lower values indicate better model accuracy.</a:t>
            </a:r>
          </a:p>
          <a:p>
            <a:pPr lvl="0"/>
            <a:r>
              <a:rPr lang="en-IN" dirty="0"/>
              <a:t> Robust to extreme squared error outliers.</a:t>
            </a:r>
          </a:p>
          <a:p>
            <a:pPr lvl="0"/>
            <a:r>
              <a:rPr lang="en-IN" dirty="0"/>
              <a:t> Provides interpretable average error magnitude.</a:t>
            </a:r>
          </a:p>
          <a:p>
            <a:pPr lvl="0"/>
            <a:r>
              <a:rPr lang="en-IN" dirty="0"/>
              <a:t> Common metric in evaluating regression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9062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B537-D800-3CFE-9EC6-0DA8CB16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MAE Mathematics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331E-998B-7B17-2965-59CAED94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Formula: MAE = (</a:t>
            </a:r>
            <a:r>
              <a:rPr lang="en-IN" dirty="0" err="1"/>
              <a:t>Σ|yi</a:t>
            </a:r>
            <a:r>
              <a:rPr lang="en-IN" dirty="0"/>
              <a:t> - </a:t>
            </a:r>
            <a:r>
              <a:rPr lang="en-IN" dirty="0" err="1"/>
              <a:t>ŷi</a:t>
            </a:r>
            <a:r>
              <a:rPr lang="en-IN" dirty="0"/>
              <a:t>|)/n.</a:t>
            </a:r>
          </a:p>
          <a:p>
            <a:pPr lvl="0"/>
            <a:r>
              <a:rPr lang="en-IN" dirty="0"/>
              <a:t> Summation of absolute residual differences averaged.</a:t>
            </a:r>
          </a:p>
          <a:p>
            <a:pPr lvl="0"/>
            <a:r>
              <a:rPr lang="en-IN" dirty="0"/>
              <a:t> Captures magnitude without considering error direction.</a:t>
            </a:r>
          </a:p>
          <a:p>
            <a:pPr lvl="0"/>
            <a:r>
              <a:rPr lang="en-IN" dirty="0"/>
              <a:t> Simple measure of model performance accuracy.</a:t>
            </a:r>
          </a:p>
          <a:p>
            <a:pPr lvl="0"/>
            <a:r>
              <a:rPr lang="en-IN" dirty="0"/>
              <a:t> Units consistent with dependent variable measurements.</a:t>
            </a:r>
          </a:p>
          <a:p>
            <a:r>
              <a:rPr lang="en-IN" dirty="0"/>
              <a:t> Useful for comparing different regression approaches</a:t>
            </a:r>
          </a:p>
        </p:txBody>
      </p:sp>
    </p:spTree>
    <p:extLst>
      <p:ext uri="{BB962C8B-B14F-4D97-AF65-F5344CB8AC3E}">
        <p14:creationId xmlns:p14="http://schemas.microsoft.com/office/powerpoint/2010/main" val="238424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BA86-9BA4-A3A1-8441-FFCB90336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112C2-1CE4-E190-E506-62977CE73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</a:t>
            </a:r>
            <a:r>
              <a:rPr lang="en-IN" dirty="0" err="1"/>
              <a:t>Sklearn</a:t>
            </a:r>
            <a:r>
              <a:rPr lang="en-IN" dirty="0"/>
              <a:t> provides </a:t>
            </a:r>
            <a:r>
              <a:rPr lang="en-IN" dirty="0" err="1"/>
              <a:t>mean_absolute_error</a:t>
            </a:r>
            <a:r>
              <a:rPr lang="en-IN" dirty="0"/>
              <a:t>(</a:t>
            </a:r>
            <a:r>
              <a:rPr lang="en-IN" dirty="0" err="1"/>
              <a:t>y_true</a:t>
            </a:r>
            <a:r>
              <a:rPr lang="en-IN" dirty="0"/>
              <a:t>, </a:t>
            </a:r>
            <a:r>
              <a:rPr lang="en-IN" dirty="0" err="1"/>
              <a:t>y_pred</a:t>
            </a:r>
            <a:r>
              <a:rPr lang="en-IN" dirty="0"/>
              <a:t>).</a:t>
            </a:r>
          </a:p>
          <a:p>
            <a:pPr lvl="0"/>
            <a:r>
              <a:rPr lang="en-IN" dirty="0"/>
              <a:t> Returns mean magnitude of prediction errors.</a:t>
            </a:r>
          </a:p>
          <a:p>
            <a:pPr lvl="0"/>
            <a:r>
              <a:rPr lang="en-IN" dirty="0"/>
              <a:t> Intuitive metric widely used in practice.</a:t>
            </a:r>
          </a:p>
          <a:p>
            <a:pPr lvl="0"/>
            <a:r>
              <a:rPr lang="en-IN" dirty="0"/>
              <a:t> Lower MAE means closer predicted observations.</a:t>
            </a:r>
          </a:p>
          <a:p>
            <a:pPr lvl="0"/>
            <a:r>
              <a:rPr lang="en-IN" dirty="0"/>
              <a:t> Complements MSE for robust model analysis.</a:t>
            </a:r>
          </a:p>
          <a:p>
            <a:pPr lvl="0"/>
            <a:r>
              <a:rPr lang="en-IN" dirty="0"/>
              <a:t> Valuable during hyperparameter optimization procedures.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293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6146B-CDB3-8233-0FBA-F6F2D3230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MAE Visualization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slide3_mae.png">
            <a:extLst>
              <a:ext uri="{FF2B5EF4-FFF2-40B4-BE49-F238E27FC236}">
                <a16:creationId xmlns:a16="http://schemas.microsoft.com/office/drawing/2014/main" id="{CC448BE9-E9B8-CD68-C9C7-009D5CE5E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97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FB47-2D85-60E0-2B32-1589BC5F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Mean Squared Error (MSE)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AEC56-EC79-295B-8A6A-DCFC5AEB7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MSE squares errors before averaging residuals.</a:t>
            </a:r>
          </a:p>
          <a:p>
            <a:pPr lvl="0"/>
            <a:r>
              <a:rPr lang="en-IN" dirty="0"/>
              <a:t> Penalizes larger deviations more significantly.</a:t>
            </a:r>
          </a:p>
          <a:p>
            <a:pPr lvl="0"/>
            <a:r>
              <a:rPr lang="en-IN" dirty="0"/>
              <a:t> Lower MSE indicates better prediction performance.</a:t>
            </a:r>
          </a:p>
          <a:p>
            <a:pPr lvl="0"/>
            <a:r>
              <a:rPr lang="en-IN" dirty="0"/>
              <a:t> Sensitive to dataset outlier values strongly.</a:t>
            </a:r>
          </a:p>
          <a:p>
            <a:pPr lvl="0"/>
            <a:r>
              <a:rPr lang="en-IN" dirty="0"/>
              <a:t> Commonly used as optimization objective function.</a:t>
            </a:r>
          </a:p>
          <a:p>
            <a:pPr lvl="0"/>
            <a:r>
              <a:rPr lang="en-IN" dirty="0"/>
              <a:t> Central evaluation metric for regression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639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B01A-B5EF-76CA-40C4-12CE79F5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MSE Mathematics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10C16-0804-F92E-6FF6-42D7EFC16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Formula: MSE = Σ(</a:t>
            </a:r>
            <a:r>
              <a:rPr lang="en-IN" dirty="0" err="1"/>
              <a:t>yi</a:t>
            </a:r>
            <a:r>
              <a:rPr lang="en-IN" dirty="0"/>
              <a:t> - </a:t>
            </a:r>
            <a:r>
              <a:rPr lang="en-IN" dirty="0" err="1"/>
              <a:t>ŷi</a:t>
            </a:r>
            <a:r>
              <a:rPr lang="en-IN" dirty="0"/>
              <a:t>)² / n.</a:t>
            </a:r>
          </a:p>
          <a:p>
            <a:pPr lvl="0"/>
            <a:r>
              <a:rPr lang="en-IN" dirty="0"/>
              <a:t> Represents average squared prediction error magnitude.</a:t>
            </a:r>
          </a:p>
          <a:p>
            <a:pPr lvl="0"/>
            <a:r>
              <a:rPr lang="en-IN" dirty="0"/>
              <a:t> Larger deviations receive quadratic penalty weighting.</a:t>
            </a:r>
          </a:p>
          <a:p>
            <a:pPr lvl="0"/>
            <a:r>
              <a:rPr lang="en-IN" dirty="0"/>
              <a:t> Derived directly from least squares principle.</a:t>
            </a:r>
          </a:p>
          <a:p>
            <a:pPr lvl="0"/>
            <a:r>
              <a:rPr lang="en-IN" dirty="0"/>
              <a:t> Basis for maximum likelihood estimation techniques.</a:t>
            </a:r>
          </a:p>
          <a:p>
            <a:pPr lvl="0"/>
            <a:r>
              <a:rPr lang="en-IN" dirty="0"/>
              <a:t> Minimization ensures regression line best fits.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E3CE-0FE4-D8A0-42AB-716B127F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MSE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C2E7-BA7E-09D6-23E0-705D3B2E3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</a:t>
            </a:r>
            <a:r>
              <a:rPr lang="en-IN" dirty="0" err="1"/>
              <a:t>Sklearn</a:t>
            </a:r>
            <a:r>
              <a:rPr lang="en-IN" dirty="0"/>
              <a:t> </a:t>
            </a:r>
            <a:r>
              <a:rPr lang="en-IN" dirty="0" err="1"/>
              <a:t>mean_squared_error</a:t>
            </a:r>
            <a:r>
              <a:rPr lang="en-IN" dirty="0"/>
              <a:t>(</a:t>
            </a:r>
            <a:r>
              <a:rPr lang="en-IN" dirty="0" err="1"/>
              <a:t>y_true</a:t>
            </a:r>
            <a:r>
              <a:rPr lang="en-IN" dirty="0"/>
              <a:t>, </a:t>
            </a:r>
            <a:r>
              <a:rPr lang="en-IN" dirty="0" err="1"/>
              <a:t>y_pred</a:t>
            </a:r>
            <a:r>
              <a:rPr lang="en-IN" dirty="0"/>
              <a:t>) function.</a:t>
            </a:r>
          </a:p>
          <a:p>
            <a:pPr lvl="0"/>
            <a:r>
              <a:rPr lang="en-IN" dirty="0"/>
              <a:t> Returns average squared difference for predictions.</a:t>
            </a:r>
          </a:p>
          <a:p>
            <a:pPr lvl="0"/>
            <a:r>
              <a:rPr lang="en-IN" dirty="0"/>
              <a:t> Lower output implies higher model reliability.</a:t>
            </a:r>
          </a:p>
          <a:p>
            <a:pPr lvl="0"/>
            <a:r>
              <a:rPr lang="en-IN" dirty="0"/>
              <a:t> Often compared with MAE for robustness.</a:t>
            </a:r>
          </a:p>
          <a:p>
            <a:pPr lvl="0"/>
            <a:r>
              <a:rPr lang="en-IN" dirty="0"/>
              <a:t> Useful in supervised learning performance evaluation.</a:t>
            </a:r>
          </a:p>
          <a:p>
            <a:pPr lvl="0"/>
            <a:r>
              <a:rPr lang="en-IN" dirty="0"/>
              <a:t> Balances accuracy with sensitivity to outliers.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50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0A0EA-1542-1904-17B6-0559F45A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MSE Visualization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slide4_mse.png">
            <a:extLst>
              <a:ext uri="{FF2B5EF4-FFF2-40B4-BE49-F238E27FC236}">
                <a16:creationId xmlns:a16="http://schemas.microsoft.com/office/drawing/2014/main" id="{933B2FF6-9258-2B7C-13F1-ECAD2D246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14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E09E-E49F-59C5-BE84-F18C4D8EE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R-squared (R²)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AB60B-C01E-AF3F-A6C7-CCC71ACB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R² explains variance captured by regression.</a:t>
            </a:r>
          </a:p>
          <a:p>
            <a:pPr lvl="0"/>
            <a:r>
              <a:rPr lang="en-IN" dirty="0"/>
              <a:t> Values range between zero and one.</a:t>
            </a:r>
          </a:p>
          <a:p>
            <a:pPr lvl="0"/>
            <a:r>
              <a:rPr lang="en-IN" dirty="0"/>
              <a:t> Higher R² means stronger explanatory power.</a:t>
            </a:r>
          </a:p>
          <a:p>
            <a:pPr lvl="0"/>
            <a:r>
              <a:rPr lang="en-IN" dirty="0"/>
              <a:t> Adjusted R² corrects for predictor count.</a:t>
            </a:r>
          </a:p>
          <a:p>
            <a:pPr lvl="0"/>
            <a:r>
              <a:rPr lang="en-IN" dirty="0"/>
              <a:t> Negative R² indicates worse than baseline.</a:t>
            </a:r>
          </a:p>
          <a:p>
            <a:r>
              <a:rPr lang="en-IN" dirty="0"/>
              <a:t> Standard metric for regression model quality</a:t>
            </a:r>
          </a:p>
        </p:txBody>
      </p:sp>
    </p:spTree>
    <p:extLst>
      <p:ext uri="{BB962C8B-B14F-4D97-AF65-F5344CB8AC3E}">
        <p14:creationId xmlns:p14="http://schemas.microsoft.com/office/powerpoint/2010/main" val="3516510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25CE-D891-67C6-997F-79E2B99B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R² Mathematics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ECE9-9C22-8783-9B6E-FB84ACBDF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Formula: R² = 1 - (SSR/SST).</a:t>
            </a:r>
          </a:p>
          <a:p>
            <a:pPr lvl="0"/>
            <a:r>
              <a:rPr lang="en-IN" dirty="0"/>
              <a:t> SSR represents residual sum of squares.</a:t>
            </a:r>
          </a:p>
          <a:p>
            <a:pPr lvl="0"/>
            <a:r>
              <a:rPr lang="en-IN" dirty="0"/>
              <a:t> SST represents total variation in dataset.</a:t>
            </a:r>
          </a:p>
          <a:p>
            <a:pPr lvl="0"/>
            <a:r>
              <a:rPr lang="en-IN" dirty="0"/>
              <a:t> R² gives proportion variance explained accurately.</a:t>
            </a:r>
          </a:p>
          <a:p>
            <a:pPr lvl="0"/>
            <a:r>
              <a:rPr lang="en-IN" dirty="0"/>
              <a:t> Higher scores imply strong explanatory regression models.</a:t>
            </a:r>
          </a:p>
          <a:p>
            <a:pPr lvl="0"/>
            <a:r>
              <a:rPr lang="en-IN" dirty="0"/>
              <a:t> Helps evaluate overall model prediction strength.</a:t>
            </a:r>
          </a:p>
        </p:txBody>
      </p:sp>
    </p:spTree>
    <p:extLst>
      <p:ext uri="{BB962C8B-B14F-4D97-AF65-F5344CB8AC3E}">
        <p14:creationId xmlns:p14="http://schemas.microsoft.com/office/powerpoint/2010/main" val="52946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D1F8-AFDC-D927-8B4F-82083A1E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R²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06CC-6D0F-5C4B-2F1E-5458F1252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Python </a:t>
            </a:r>
            <a:r>
              <a:rPr lang="en-IN" dirty="0" err="1"/>
              <a:t>sklearn</a:t>
            </a:r>
            <a:r>
              <a:rPr lang="en-IN" dirty="0"/>
              <a:t> provides r2_score(</a:t>
            </a:r>
            <a:r>
              <a:rPr lang="en-IN" dirty="0" err="1"/>
              <a:t>y_true</a:t>
            </a:r>
            <a:r>
              <a:rPr lang="en-IN" dirty="0"/>
              <a:t>, </a:t>
            </a:r>
            <a:r>
              <a:rPr lang="en-IN" dirty="0" err="1"/>
              <a:t>y_pred</a:t>
            </a:r>
            <a:r>
              <a:rPr lang="en-IN" dirty="0"/>
              <a:t>).</a:t>
            </a:r>
          </a:p>
          <a:p>
            <a:pPr lvl="0"/>
            <a:r>
              <a:rPr lang="en-IN" dirty="0"/>
              <a:t> Returns variance explained by regression predictions.</a:t>
            </a:r>
          </a:p>
          <a:p>
            <a:pPr lvl="0"/>
            <a:r>
              <a:rPr lang="en-IN" dirty="0"/>
              <a:t> Higher output closer to one desirable.</a:t>
            </a:r>
          </a:p>
          <a:p>
            <a:pPr lvl="0"/>
            <a:r>
              <a:rPr lang="en-IN" dirty="0"/>
              <a:t> Negative score worse than naive baseline.</a:t>
            </a:r>
          </a:p>
          <a:p>
            <a:pPr lvl="0"/>
            <a:r>
              <a:rPr lang="en-IN" dirty="0"/>
              <a:t> Used alongside coefficients to explain relationships.</a:t>
            </a:r>
          </a:p>
          <a:p>
            <a:pPr lvl="0"/>
            <a:r>
              <a:rPr lang="en-IN" dirty="0"/>
              <a:t> Important complement to MSE and MAE.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541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A6044-5C67-B9F9-7FE9-298E5C0E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R² Visualization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slide5_r2.png">
            <a:extLst>
              <a:ext uri="{FF2B5EF4-FFF2-40B4-BE49-F238E27FC236}">
                <a16:creationId xmlns:a16="http://schemas.microsoft.com/office/drawing/2014/main" id="{712C2CB7-956C-4D20-1C82-B6419873F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30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E589-8AA2-9D7A-B033-C37D9726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Root Mean Squared Error (RMSE)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DDAA1-BCEA-2184-CBE6-9AEF2568A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RMSE square root of MSE value.</a:t>
            </a:r>
          </a:p>
          <a:p>
            <a:pPr lvl="0"/>
            <a:r>
              <a:rPr lang="en-IN" dirty="0"/>
              <a:t> Expressed in same units as response.</a:t>
            </a:r>
          </a:p>
          <a:p>
            <a:pPr lvl="0"/>
            <a:r>
              <a:rPr lang="en-IN" dirty="0"/>
              <a:t> Smaller values indicate stronger predictive performance.</a:t>
            </a:r>
          </a:p>
          <a:p>
            <a:pPr lvl="0"/>
            <a:r>
              <a:rPr lang="en-IN" dirty="0"/>
              <a:t> More sensitive towards larger error deviations.</a:t>
            </a:r>
          </a:p>
          <a:p>
            <a:pPr lvl="0"/>
            <a:r>
              <a:rPr lang="en-IN" dirty="0"/>
              <a:t> Standard error measure in forecasting studies.</a:t>
            </a:r>
          </a:p>
          <a:p>
            <a:pPr lvl="0"/>
            <a:r>
              <a:rPr lang="en-IN" dirty="0"/>
              <a:t> Provides interpretable error magnitude directly.</a:t>
            </a:r>
          </a:p>
        </p:txBody>
      </p:sp>
    </p:spTree>
    <p:extLst>
      <p:ext uri="{BB962C8B-B14F-4D97-AF65-F5344CB8AC3E}">
        <p14:creationId xmlns:p14="http://schemas.microsoft.com/office/powerpoint/2010/main" val="1662493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48F1-2C28-7188-1DB2-5E3A5ED7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RMSE Mathematics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2A03D-E8B9-D40C-81AA-308D817B1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Formula: RMSE = √(Σ(</a:t>
            </a:r>
            <a:r>
              <a:rPr lang="en-IN" dirty="0" err="1"/>
              <a:t>yi</a:t>
            </a:r>
            <a:r>
              <a:rPr lang="en-IN" dirty="0"/>
              <a:t> - </a:t>
            </a:r>
            <a:r>
              <a:rPr lang="en-IN" dirty="0" err="1"/>
              <a:t>ŷi</a:t>
            </a:r>
            <a:r>
              <a:rPr lang="en-IN" dirty="0"/>
              <a:t>)² / n).</a:t>
            </a:r>
          </a:p>
          <a:p>
            <a:pPr lvl="0"/>
            <a:r>
              <a:rPr lang="en-IN" dirty="0"/>
              <a:t> Rooted version of mean squared error metric.</a:t>
            </a:r>
          </a:p>
          <a:p>
            <a:pPr lvl="0"/>
            <a:r>
              <a:rPr lang="en-IN" dirty="0"/>
              <a:t> Retains unit consistency for practical interpretation.</a:t>
            </a:r>
          </a:p>
          <a:p>
            <a:pPr lvl="0"/>
            <a:r>
              <a:rPr lang="en-IN" dirty="0"/>
              <a:t> Popular across engineering, climate, economic forecasting.</a:t>
            </a:r>
          </a:p>
          <a:p>
            <a:pPr lvl="0"/>
            <a:r>
              <a:rPr lang="en-IN" dirty="0"/>
              <a:t> Smaller RMSE means model predicts more reliably.</a:t>
            </a:r>
          </a:p>
          <a:p>
            <a:pPr lvl="0"/>
            <a:r>
              <a:rPr lang="en-IN" dirty="0"/>
              <a:t> Complements R² and MAE performance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296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FDE8-1295-DC2B-743D-C062B369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RMSE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63ED9-95D4-D1E1-96A9-CB0B503EA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RMSE computed using </a:t>
            </a:r>
            <a:r>
              <a:rPr lang="en-IN" dirty="0" err="1"/>
              <a:t>np.sqrt</a:t>
            </a:r>
            <a:r>
              <a:rPr lang="en-IN" dirty="0"/>
              <a:t>(MSE).</a:t>
            </a:r>
          </a:p>
          <a:p>
            <a:pPr lvl="0"/>
            <a:r>
              <a:rPr lang="en-IN" dirty="0"/>
              <a:t> Combine </a:t>
            </a:r>
            <a:r>
              <a:rPr lang="en-IN" dirty="0" err="1"/>
              <a:t>mean_squared_error</a:t>
            </a:r>
            <a:r>
              <a:rPr lang="en-IN" dirty="0"/>
              <a:t> with </a:t>
            </a:r>
            <a:r>
              <a:rPr lang="en-IN" dirty="0" err="1"/>
              <a:t>numpy</a:t>
            </a:r>
            <a:r>
              <a:rPr lang="en-IN" dirty="0"/>
              <a:t> square root.</a:t>
            </a:r>
          </a:p>
          <a:p>
            <a:pPr lvl="0"/>
            <a:r>
              <a:rPr lang="en-IN" dirty="0"/>
              <a:t> Provides interpretable error magnitude in units.</a:t>
            </a:r>
          </a:p>
          <a:p>
            <a:pPr lvl="0"/>
            <a:r>
              <a:rPr lang="en-IN" dirty="0"/>
              <a:t> Lower RMSE implies higher model precision.</a:t>
            </a:r>
          </a:p>
          <a:p>
            <a:pPr lvl="0"/>
            <a:r>
              <a:rPr lang="en-IN" dirty="0"/>
              <a:t> Useful in sensitive regression applications.</a:t>
            </a:r>
          </a:p>
          <a:p>
            <a:pPr lvl="0"/>
            <a:r>
              <a:rPr lang="en-IN" dirty="0"/>
              <a:t> Widely reported in forecasting and simulation research.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332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05D63-0AD8-1289-1084-3C7F96662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RMSE Visualization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slide6_rmse.png">
            <a:extLst>
              <a:ext uri="{FF2B5EF4-FFF2-40B4-BE49-F238E27FC236}">
                <a16:creationId xmlns:a16="http://schemas.microsoft.com/office/drawing/2014/main" id="{F5407ADC-E13F-744C-38FD-10510AAF1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9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1052</Words>
  <Application>Microsoft Office PowerPoint</Application>
  <PresentationFormat>Widescreen</PresentationFormat>
  <Paragraphs>137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Office Theme</vt:lpstr>
      <vt:lpstr>Evaluate Model Performance</vt:lpstr>
      <vt:lpstr>Ordinary Least Squares (OLS)</vt:lpstr>
      <vt:lpstr>OLS Mathematics</vt:lpstr>
      <vt:lpstr>OLS Code</vt:lpstr>
      <vt:lpstr>OLS Visualization</vt:lpstr>
      <vt:lpstr>Correlation</vt:lpstr>
      <vt:lpstr>Correlation Mathematics </vt:lpstr>
      <vt:lpstr>Correlation Code</vt:lpstr>
      <vt:lpstr>Correlation Visualization </vt:lpstr>
      <vt:lpstr>MAE (Mean Absolute Error)</vt:lpstr>
      <vt:lpstr>MAE Mathematics</vt:lpstr>
      <vt:lpstr>MAE Code</vt:lpstr>
      <vt:lpstr>MAE Visualization</vt:lpstr>
      <vt:lpstr>Mean Squared Error (MSE)</vt:lpstr>
      <vt:lpstr>MSE Mathematics</vt:lpstr>
      <vt:lpstr>MSE Code</vt:lpstr>
      <vt:lpstr>MSE Visualization</vt:lpstr>
      <vt:lpstr>R-squared (R²)</vt:lpstr>
      <vt:lpstr>R² Mathematics</vt:lpstr>
      <vt:lpstr>R² Code</vt:lpstr>
      <vt:lpstr>R² Visualization</vt:lpstr>
      <vt:lpstr>Root Mean Squared Error (RMSE)</vt:lpstr>
      <vt:lpstr>RMSE Mathematics</vt:lpstr>
      <vt:lpstr>RMSE Code</vt:lpstr>
      <vt:lpstr>RMSE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t6941</dc:creator>
  <cp:lastModifiedBy>t6941</cp:lastModifiedBy>
  <cp:revision>26</cp:revision>
  <dcterms:created xsi:type="dcterms:W3CDTF">2025-10-02T07:01:31Z</dcterms:created>
  <dcterms:modified xsi:type="dcterms:W3CDTF">2025-10-02T07:29:57Z</dcterms:modified>
</cp:coreProperties>
</file>